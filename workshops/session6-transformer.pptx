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Transformer: معماری پشت همهٔ LLMهای مدرن.
سؤال شروع: «ChatGPT چطور همهٔ جمله را هم‌زمان می‌فهمد؟»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مرور: شبکهٔ عصبی = لایه‌هایی از نورون‌ها با پارامترها.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تصویر rnn-challenges.png را نشان دهید.
توضیح: مدل‌های قدیمی مثل کسی بودند که کتاب را کلمه‌به‌کلمه می‌خواند و هر بار فقط یک کلمه را می‌فهمد.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Transformer = تبدیل‌کننده.
مثل کسی که کتاب را یک‌باره می‌خواند و همهٔ کلمات را هم‌زمان می‌فهمد.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تصویر word-embedding.png را نشان دهید.
مثال: «گربه» ← [۰٫۲، ۰٫۸، ۰٫۱، ...]
«شیر» در سه زمینه: حیوان، وسیله، نوشیدنی.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تصویر self-attention.png را نشان دهید.
مثال دقیق: در جملهٔ «علی به بانک رفت چون او پول لازم داشت»، برای ساختن معنای «او» مدل به هر کلمه یک امتیاز توجه می‌دهد: علی ۷۰٪، پول ۵٪، بانک ۵٪، بقیهٔ کلمات مجموعاً ۲۰٪.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مثال کارشته (روایت کامل علی و او):
جمله: «علی به بانک رفت چون او پول لازم داشت.» ← ۹ توکن
گام ۱: هر توکن یک بردار عددی مستقل دارد.
گام ۲: برای «او»، مدل به هر کلمه امتیاز توجه می‌دهد: علی ۷۰٪، پول ۵٪، بانک ۵٪، بقیه ۲۰٪.
گام ۳: همین کار برای همهٔ ۹ توکن انجام می‌شود ← ماتریس ۹×۹.
گام ۴: مدل از این ماتریس ۹ بردار جدید می‌سازد (contextualized).
گام ۵: لایهٔ بعدی همین کار را روی بردارهای زمینه‌دار تکرار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قیاس میزگرد: مثل جلسه‌ای که هر نفر (کلمه) می‌پرسد «برای فهم نقشم به حرف چه کسانی گوش بدهم؟»
هر کس به همان افراد مرتبط‌تر بیشتر گوش می‌دهد.
این گفت‌وگو چند دور تکرار می‌شود تا درک همه از موضوع عمیق 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جملهٔ کلیدی برای شرکت‌کنندگان:
«مدل موقتاً روابط همهٔ جفت‌ها را می‌سازد، بعد از آن‌ها برای ساختن نمایش جدید هر کلمه استفاده می‌کند — و این فرایند در هر لایه دوباره اتفاق می‌افتد.»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C9A227"/>
          </a:solidFill>
          <a:ln/>
        </p:spPr>
      </p:sp>
      <p:sp>
        <p:nvSpPr>
          <p:cNvPr id="3" name="Text 1"/>
          <p:cNvSpPr/>
          <p:nvPr/>
        </p:nvSpPr>
        <p:spPr>
          <a:xfrm>
            <a:off x="822960" y="1417320"/>
            <a:ext cx="10515600" cy="548640"/>
          </a:xfrm>
          <a:prstGeom prst="rect">
            <a:avLst/>
          </a:prstGeom>
          <a:noFill/>
          <a:ln/>
        </p:spPr>
        <p:txBody>
          <a:bodyPr wrap="square" rtlCol="0" anchor="ctr"/>
          <a:lstStyle/>
          <a:p>
            <a:pPr rtl="1" algn="r" indent="0" marL="0">
              <a:buNone/>
            </a:pPr>
            <a:r>
              <a:rPr lang="en-US" sz="1500" dirty="0">
                <a:solidFill>
                  <a:srgbClr val="DDE3EA"/>
                </a:solidFill>
                <a:latin typeface="Vazirmatn" pitchFamily="34" charset="0"/>
                <a:ea typeface="Vazirmatn" pitchFamily="34" charset="-122"/>
                <a:cs typeface="Vazirmatn" pitchFamily="34" charset="-120"/>
              </a:rPr>
              <a:t>کارگاه ۱ • جلسهٔ ۶ از ۸</a:t>
            </a:r>
            <a:endParaRPr lang="en-US" sz="1500" dirty="0"/>
          </a:p>
        </p:txBody>
      </p:sp>
      <p:sp>
        <p:nvSpPr>
          <p:cNvPr id="4" name="Text 2"/>
          <p:cNvSpPr/>
          <p:nvPr/>
        </p:nvSpPr>
        <p:spPr>
          <a:xfrm>
            <a:off x="822960" y="1965960"/>
            <a:ext cx="10515600" cy="1280160"/>
          </a:xfrm>
          <a:prstGeom prst="rect">
            <a:avLst/>
          </a:prstGeom>
          <a:noFill/>
          <a:ln/>
        </p:spPr>
        <p:txBody>
          <a:bodyPr wrap="square" rtlCol="0" anchor="ctr"/>
          <a:lstStyle/>
          <a:p>
            <a:pPr rtl="1" algn="r" indent="0" marL="0">
              <a:buNone/>
            </a:pPr>
            <a:r>
              <a:rPr lang="en-US" sz="3800" b="1" dirty="0">
                <a:solidFill>
                  <a:srgbClr val="FFFFFF"/>
                </a:solidFill>
                <a:latin typeface="Vazirmatn" pitchFamily="34" charset="0"/>
                <a:ea typeface="Vazirmatn" pitchFamily="34" charset="-122"/>
                <a:cs typeface="Vazirmatn" pitchFamily="34" charset="-120"/>
              </a:rPr>
              <a:t>Transformer چیست؟</a:t>
            </a:r>
            <a:endParaRPr lang="en-US" sz="3800" dirty="0"/>
          </a:p>
        </p:txBody>
      </p:sp>
      <p:sp>
        <p:nvSpPr>
          <p:cNvPr id="5" name="Text 3"/>
          <p:cNvSpPr/>
          <p:nvPr/>
        </p:nvSpPr>
        <p:spPr>
          <a:xfrm>
            <a:off x="822960" y="3337560"/>
            <a:ext cx="10515600" cy="502920"/>
          </a:xfrm>
          <a:prstGeom prst="rect">
            <a:avLst/>
          </a:prstGeom>
          <a:noFill/>
          <a:ln/>
        </p:spPr>
        <p:txBody>
          <a:bodyPr wrap="square" rtlCol="0" anchor="ctr"/>
          <a:lstStyle/>
          <a:p>
            <a:pPr rtl="1" algn="r" indent="0" marL="0">
              <a:buNone/>
            </a:pPr>
            <a:r>
              <a:rPr lang="en-US" sz="1600" dirty="0">
                <a:solidFill>
                  <a:srgbClr val="DDE3EA"/>
                </a:solidFill>
                <a:latin typeface="Vazirmatn" pitchFamily="34" charset="0"/>
                <a:ea typeface="Vazirmatn" pitchFamily="34" charset="-122"/>
                <a:cs typeface="Vazirmatn" pitchFamily="34" charset="-120"/>
              </a:rPr>
              <a:t>معماری پشت GPT، Claude و BERT • ۲۰ دقیقه</a:t>
            </a:r>
            <a:endParaRPr lang="en-US" sz="1600" dirty="0"/>
          </a:p>
        </p:txBody>
      </p:sp>
      <p:sp>
        <p:nvSpPr>
          <p:cNvPr id="6" name="Text 4"/>
          <p:cNvSpPr/>
          <p:nvPr/>
        </p:nvSpPr>
        <p:spPr>
          <a:xfrm>
            <a:off x="822960" y="5806440"/>
            <a:ext cx="10515600" cy="457200"/>
          </a:xfrm>
          <a:prstGeom prst="rect">
            <a:avLst/>
          </a:prstGeom>
          <a:noFill/>
          <a:ln/>
        </p:spPr>
        <p:txBody>
          <a:bodyPr wrap="square" rtlCol="0" anchor="ctr"/>
          <a:lstStyle/>
          <a:p>
            <a:pPr rtl="1" algn="r" indent="0" marL="0">
              <a:buNone/>
            </a:pPr>
            <a:r>
              <a:rPr lang="en-US" sz="1200" dirty="0">
                <a:solidFill>
                  <a:srgbClr val="8FA3BF"/>
                </a:solidFill>
                <a:latin typeface="Vazirmatn" pitchFamily="34" charset="0"/>
                <a:ea typeface="Vazirmatn" pitchFamily="34" charset="-122"/>
                <a:cs typeface="Vazirmatn" pitchFamily="34" charset="-120"/>
              </a:rPr>
              <a:t>آشنایی با مفاهیم هوش مصنوعی • کارگاه ۱</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274552" y="384048"/>
            <a:ext cx="73152" cy="566928"/>
          </a:xfrm>
          <a:prstGeom prst="rect">
            <a:avLst/>
          </a:prstGeom>
          <a:solidFill>
            <a:srgbClr val="0E7C7B"/>
          </a:solidFill>
          <a:ln/>
        </p:spPr>
      </p:sp>
      <p:sp>
        <p:nvSpPr>
          <p:cNvPr id="3" name="Text 1"/>
          <p:cNvSpPr/>
          <p:nvPr/>
        </p:nvSpPr>
        <p:spPr>
          <a:xfrm>
            <a:off x="548640" y="292608"/>
            <a:ext cx="10561320" cy="713232"/>
          </a:xfrm>
          <a:prstGeom prst="rect">
            <a:avLst/>
          </a:prstGeom>
          <a:noFill/>
          <a:ln/>
        </p:spPr>
        <p:txBody>
          <a:bodyPr wrap="square" rtlCol="0" anchor="ctr"/>
          <a:lstStyle/>
          <a:p>
            <a:pPr rtl="1" algn="r" indent="0" marL="0">
              <a:buNone/>
            </a:pPr>
            <a:r>
              <a:rPr lang="en-US" sz="2600" b="1" dirty="0">
                <a:solidFill>
                  <a:srgbClr val="1F3A5F"/>
                </a:solidFill>
                <a:latin typeface="Vazirmatn" pitchFamily="34" charset="0"/>
                <a:ea typeface="Vazirmatn" pitchFamily="34" charset="-122"/>
                <a:cs typeface="Vazirmatn" pitchFamily="34" charset="-120"/>
              </a:rPr>
              <a:t>دستور جلسه</a:t>
            </a:r>
            <a:endParaRPr lang="en-US" sz="2600" dirty="0"/>
          </a:p>
        </p:txBody>
      </p:sp>
      <p:sp>
        <p:nvSpPr>
          <p:cNvPr id="4" name="Text 2"/>
          <p:cNvSpPr/>
          <p:nvPr/>
        </p:nvSpPr>
        <p:spPr>
          <a:xfrm>
            <a:off x="548640" y="1234440"/>
            <a:ext cx="11064240" cy="4663440"/>
          </a:xfrm>
          <a:prstGeom prst="rect">
            <a:avLst/>
          </a:prstGeom>
          <a:noFill/>
          <a:ln/>
        </p:spPr>
        <p:txBody>
          <a:bodyPr wrap="square" rtlCol="0" anchor="t"/>
          <a:lstStyle/>
          <a:p>
            <a:pPr rtl="1" algn="r" marL="127000" indent="-127000">
              <a:lnSpc>
                <a:spcPts val="2600"/>
              </a:lnSpc>
              <a:spcAft>
                <a:spcPts val="1000"/>
              </a:spcAft>
              <a:buSzPct val="100000"/>
              <a:buChar char="•"/>
            </a:pPr>
            <a:r>
              <a:rPr lang="en-US" sz="1700" dirty="0">
                <a:solidFill>
                  <a:srgbClr val="333333"/>
                </a:solidFill>
                <a:latin typeface="Vazirmatn" pitchFamily="34" charset="0"/>
                <a:ea typeface="Vazirmatn" pitchFamily="34" charset="-122"/>
                <a:cs typeface="Vazirmatn" pitchFamily="34" charset="-120"/>
              </a:rPr>
              <a:t>مشکل مدل‌های قدیمی</a:t>
            </a:r>
            <a:pPr rtl="1" algn="r" marL="127000" indent="-127000">
              <a:lnSpc>
                <a:spcPts val="2600"/>
              </a:lnSpc>
              <a:spcAft>
                <a:spcPts val="1000"/>
              </a:spcAft>
              <a:buSzPct val="100000"/>
              <a:buChar char="•"/>
            </a:pPr>
            <a:r>
              <a:rPr lang="en-US" sz="1700" dirty="0">
                <a:solidFill>
                  <a:srgbClr val="333333"/>
                </a:solidFill>
                <a:latin typeface="Vazirmatn" pitchFamily="34" charset="0"/>
                <a:ea typeface="Vazirmatn" pitchFamily="34" charset="-122"/>
                <a:cs typeface="Vazirmatn" pitchFamily="34" charset="-120"/>
              </a:rPr>
              <a:t>راه‌حل Transformer: دیدن همهٔ کلمات با هم</a:t>
            </a:r>
            <a:pPr rtl="1" algn="r" marL="127000" indent="-127000">
              <a:lnSpc>
                <a:spcPts val="2600"/>
              </a:lnSpc>
              <a:spcAft>
                <a:spcPts val="1000"/>
              </a:spcAft>
              <a:buSzPct val="100000"/>
              <a:buChar char="•"/>
            </a:pPr>
            <a:r>
              <a:rPr lang="en-US" sz="1700" dirty="0">
                <a:solidFill>
                  <a:srgbClr val="333333"/>
                </a:solidFill>
                <a:latin typeface="Vazirmatn" pitchFamily="34" charset="0"/>
                <a:ea typeface="Vazirmatn" pitchFamily="34" charset="-122"/>
                <a:cs typeface="Vazirmatn" pitchFamily="34" charset="-120"/>
              </a:rPr>
              <a:t>مراحل کار: اعداد ← توجه ← تکرار ← پیش‌بینی</a:t>
            </a:r>
            <a:pPr rtl="1" algn="r" marL="127000" indent="-127000">
              <a:lnSpc>
                <a:spcPts val="2600"/>
              </a:lnSpc>
              <a:spcAft>
                <a:spcPts val="1000"/>
              </a:spcAft>
              <a:buSzPct val="100000"/>
              <a:buChar char="•"/>
            </a:pPr>
            <a:r>
              <a:rPr lang="en-US" sz="1700" dirty="0">
                <a:solidFill>
                  <a:srgbClr val="333333"/>
                </a:solidFill>
                <a:latin typeface="Vazirmatn" pitchFamily="34" charset="0"/>
                <a:ea typeface="Vazirmatn" pitchFamily="34" charset="-122"/>
                <a:cs typeface="Vazirmatn" pitchFamily="34" charset="-120"/>
              </a:rPr>
              <a:t>یک مثال دقیق از Attention</a:t>
            </a:r>
            <a:endParaRPr lang="en-US" sz="1700" dirty="0"/>
          </a:p>
        </p:txBody>
      </p:sp>
      <p:sp>
        <p:nvSpPr>
          <p:cNvPr id="6" name="Text 3"/>
          <p:cNvSpPr/>
          <p:nvPr/>
        </p:nvSpPr>
        <p:spPr>
          <a:xfrm>
            <a:off x="5486400" y="6455664"/>
            <a:ext cx="6309360" cy="329184"/>
          </a:xfrm>
          <a:prstGeom prst="rect">
            <a:avLst/>
          </a:prstGeom>
          <a:noFill/>
          <a:ln/>
        </p:spPr>
        <p:txBody>
          <a:bodyPr wrap="square" rtlCol="0" anchor="ctr"/>
          <a:lstStyle/>
          <a:p>
            <a:pPr rtl="1" algn="r" indent="0" marL="0">
              <a:buNone/>
            </a:pPr>
            <a:r>
              <a:rPr lang="en-US" sz="1000" dirty="0">
                <a:solidFill>
                  <a:srgbClr val="6B7280"/>
                </a:solidFill>
                <a:latin typeface="Vazirmatn" pitchFamily="34" charset="0"/>
                <a:ea typeface="Vazirmatn" pitchFamily="34" charset="-122"/>
                <a:cs typeface="Vazirmatn" pitchFamily="34" charset="-120"/>
              </a:rPr>
              <a:t>کارگاه ۱ • جلسهٔ ۶: Transformer</a:t>
            </a:r>
            <a:endParaRPr lang="en-US" sz="1000" dirty="0"/>
          </a:p>
        </p:txBody>
      </p:sp>
      <p:sp>
        <p:nvSpPr>
          <p:cNvPr id="7" name="Text 4"/>
          <p:cNvSpPr/>
          <p:nvPr/>
        </p:nvSpPr>
        <p:spPr>
          <a:xfrm>
            <a:off x="320040" y="6455664"/>
            <a:ext cx="2011680" cy="329184"/>
          </a:xfrm>
          <a:prstGeom prst="rect">
            <a:avLst/>
          </a:prstGeom>
          <a:noFill/>
          <a:ln/>
        </p:spPr>
        <p:txBody>
          <a:bodyPr wrap="square" rtlCol="0" anchor="ctr"/>
          <a:lstStyle/>
          <a:p>
            <a:pPr rtl="1" algn="l" indent="0" marL="0">
              <a:buNone/>
            </a:pPr>
            <a:r>
              <a:rPr lang="en-US" sz="1000" dirty="0">
                <a:solidFill>
                  <a:srgbClr val="6B7280"/>
                </a:solidFill>
                <a:latin typeface="Vazirmatn" pitchFamily="34" charset="0"/>
                <a:ea typeface="Vazirmatn" pitchFamily="34" charset="-122"/>
                <a:cs typeface="Vazirmatn" pitchFamily="34" charset="-120"/>
              </a:rPr>
              <a:t>۲ از ۹</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274552" y="384048"/>
            <a:ext cx="73152" cy="566928"/>
          </a:xfrm>
          <a:prstGeom prst="rect">
            <a:avLst/>
          </a:prstGeom>
          <a:solidFill>
            <a:srgbClr val="0E7C7B"/>
          </a:solidFill>
          <a:ln/>
        </p:spPr>
      </p:sp>
      <p:sp>
        <p:nvSpPr>
          <p:cNvPr id="3" name="Text 1"/>
          <p:cNvSpPr/>
          <p:nvPr/>
        </p:nvSpPr>
        <p:spPr>
          <a:xfrm>
            <a:off x="548640" y="292608"/>
            <a:ext cx="10561320" cy="713232"/>
          </a:xfrm>
          <a:prstGeom prst="rect">
            <a:avLst/>
          </a:prstGeom>
          <a:noFill/>
          <a:ln/>
        </p:spPr>
        <p:txBody>
          <a:bodyPr wrap="square" rtlCol="0" anchor="ctr"/>
          <a:lstStyle/>
          <a:p>
            <a:pPr rtl="1" algn="r" indent="0" marL="0">
              <a:buNone/>
            </a:pPr>
            <a:r>
              <a:rPr lang="en-US" sz="2600" b="1" dirty="0">
                <a:solidFill>
                  <a:srgbClr val="1F3A5F"/>
                </a:solidFill>
                <a:latin typeface="Vazirmatn" pitchFamily="34" charset="0"/>
                <a:ea typeface="Vazirmatn" pitchFamily="34" charset="-122"/>
                <a:cs typeface="Vazirmatn" pitchFamily="34" charset="-120"/>
              </a:rPr>
              <a:t>مشکل مدل‌های قدیمی</a:t>
            </a:r>
            <a:endParaRPr lang="en-US" sz="2600" dirty="0"/>
          </a:p>
        </p:txBody>
      </p:sp>
      <p:sp>
        <p:nvSpPr>
          <p:cNvPr id="4" name="Text 2"/>
          <p:cNvSpPr/>
          <p:nvPr/>
        </p:nvSpPr>
        <p:spPr>
          <a:xfrm>
            <a:off x="548640" y="1234440"/>
            <a:ext cx="11064240" cy="4663440"/>
          </a:xfrm>
          <a:prstGeom prst="rect">
            <a:avLst/>
          </a:prstGeom>
          <a:noFill/>
          <a:ln/>
        </p:spPr>
        <p:txBody>
          <a:bodyPr wrap="square" rtlCol="0" anchor="t"/>
          <a:lstStyle/>
          <a:p>
            <a:pPr rtl="1" algn="r" marL="127000" indent="-127000">
              <a:lnSpc>
                <a:spcPts val="2600"/>
              </a:lnSpc>
              <a:spcAft>
                <a:spcPts val="1000"/>
              </a:spcAft>
              <a:buSzPct val="100000"/>
              <a:buChar char="•"/>
            </a:pPr>
            <a:r>
              <a:rPr lang="en-US" sz="1700" dirty="0">
                <a:solidFill>
                  <a:srgbClr val="333333"/>
                </a:solidFill>
                <a:latin typeface="Vazirmatn" pitchFamily="34" charset="0"/>
                <a:ea typeface="Vazirmatn" pitchFamily="34" charset="-122"/>
                <a:cs typeface="Vazirmatn" pitchFamily="34" charset="-120"/>
              </a:rPr>
              <a:t>قبل از ۲۰۱۷ مدل‌ها متن را کلمه‌به‌کلمه و به ترتیب می‌خواندند (مثل RNN).</a:t>
            </a:r>
            <a:pPr rtl="1" algn="r" marL="127000" indent="-127000">
              <a:lnSpc>
                <a:spcPts val="2600"/>
              </a:lnSpc>
              <a:spcAft>
                <a:spcPts val="1000"/>
              </a:spcAft>
              <a:buSzPct val="100000"/>
              <a:buChar char="•"/>
            </a:pPr>
            <a:r>
              <a:rPr lang="en-US" sz="1700" dirty="0">
                <a:solidFill>
                  <a:srgbClr val="333333"/>
                </a:solidFill>
                <a:latin typeface="Vazirmatn" pitchFamily="34" charset="0"/>
                <a:ea typeface="Vazirmatn" pitchFamily="34" charset="-122"/>
                <a:cs typeface="Vazirmatn" pitchFamily="34" charset="-120"/>
              </a:rPr>
              <a:t>نتیجه: کند بودند و ارتباط کلمات دور از هم را گم می‌کردند.</a:t>
            </a:r>
            <a:pPr rtl="1" algn="r" marL="127000" indent="-127000">
              <a:lnSpc>
                <a:spcPts val="2600"/>
              </a:lnSpc>
              <a:spcAft>
                <a:spcPts val="1000"/>
              </a:spcAft>
              <a:buSzPct val="100000"/>
              <a:buChar char="•"/>
            </a:pPr>
            <a:r>
              <a:rPr lang="en-US" sz="1700" dirty="0">
                <a:solidFill>
                  <a:srgbClr val="333333"/>
                </a:solidFill>
                <a:latin typeface="Vazirmatn" pitchFamily="34" charset="0"/>
                <a:ea typeface="Vazirmatn" pitchFamily="34" charset="-122"/>
                <a:cs typeface="Vazirmatn" pitchFamily="34" charset="-120"/>
              </a:rPr>
              <a:t>مثال: در «مردی که دیروز از بازار خرید کرد ...» مدل باید کل جمله را حبس کند تا نقش «خرید» را بفهمد.</a:t>
            </a:r>
            <a:endParaRPr lang="en-US" sz="1700" dirty="0"/>
          </a:p>
        </p:txBody>
      </p:sp>
      <p:pic>
        <p:nvPicPr>
          <p:cNvPr id="5" name="Image 0" descr="/home/nsafari/projects/hobbies/ai-training/workshops/slide-assets/rnn-challenges.png">    </p:cNvPr>
          <p:cNvPicPr>
            <a:picLocks noChangeAspect="1"/>
          </p:cNvPicPr>
          <p:nvPr/>
        </p:nvPicPr>
        <p:blipFill>
          <a:blip r:embed="rId1"/>
          <a:stretch>
            <a:fillRect/>
          </a:stretch>
        </p:blipFill>
        <p:spPr>
          <a:xfrm>
            <a:off x="548640" y="4480560"/>
            <a:ext cx="6858000" cy="1828800"/>
          </a:xfrm>
          <a:prstGeom prst="rect">
            <a:avLst/>
          </a:prstGeom>
        </p:spPr>
      </p:pic>
      <p:sp>
        <p:nvSpPr>
          <p:cNvPr id="6" name="Text 3"/>
          <p:cNvSpPr/>
          <p:nvPr/>
        </p:nvSpPr>
        <p:spPr>
          <a:xfrm>
            <a:off x="548640" y="6309360"/>
            <a:ext cx="5486400" cy="320040"/>
          </a:xfrm>
          <a:prstGeom prst="rect">
            <a:avLst/>
          </a:prstGeom>
          <a:noFill/>
          <a:ln/>
        </p:spPr>
        <p:txBody>
          <a:bodyPr wrap="square" rtlCol="0" anchor="ctr"/>
          <a:lstStyle/>
          <a:p>
            <a:pPr rtl="1" algn="r" indent="0" marL="0">
              <a:buNone/>
            </a:pPr>
            <a:r>
              <a:rPr lang="en-US" sz="950" dirty="0">
                <a:solidFill>
                  <a:srgbClr val="6B7280"/>
                </a:solidFill>
                <a:latin typeface="Vazirmatn" pitchFamily="34" charset="0"/>
                <a:ea typeface="Vazirmatn" pitchFamily="34" charset="-122"/>
                <a:cs typeface="Vazirmatn" pitchFamily="34" charset="-120"/>
              </a:rPr>
              <a:t>تصویر: درس یادگیری ماشین دانشگاه شریف</a:t>
            </a:r>
            <a:endParaRPr lang="en-US" sz="950" dirty="0"/>
          </a:p>
        </p:txBody>
      </p:sp>
      <p:sp>
        <p:nvSpPr>
          <p:cNvPr id="8" name="Text 4"/>
          <p:cNvSpPr/>
          <p:nvPr/>
        </p:nvSpPr>
        <p:spPr>
          <a:xfrm>
            <a:off x="5486400" y="6455664"/>
            <a:ext cx="6309360" cy="329184"/>
          </a:xfrm>
          <a:prstGeom prst="rect">
            <a:avLst/>
          </a:prstGeom>
          <a:noFill/>
          <a:ln/>
        </p:spPr>
        <p:txBody>
          <a:bodyPr wrap="square" rtlCol="0" anchor="ctr"/>
          <a:lstStyle/>
          <a:p>
            <a:pPr rtl="1" algn="r" indent="0" marL="0">
              <a:buNone/>
            </a:pPr>
            <a:r>
              <a:rPr lang="en-US" sz="1000" dirty="0">
                <a:solidFill>
                  <a:srgbClr val="6B7280"/>
                </a:solidFill>
                <a:latin typeface="Vazirmatn" pitchFamily="34" charset="0"/>
                <a:ea typeface="Vazirmatn" pitchFamily="34" charset="-122"/>
                <a:cs typeface="Vazirmatn" pitchFamily="34" charset="-120"/>
              </a:rPr>
              <a:t>کارگاه ۱ • جلسهٔ ۶: Transformer</a:t>
            </a:r>
            <a:endParaRPr lang="en-US" sz="1000" dirty="0"/>
          </a:p>
        </p:txBody>
      </p:sp>
      <p:sp>
        <p:nvSpPr>
          <p:cNvPr id="9" name="Text 5"/>
          <p:cNvSpPr/>
          <p:nvPr/>
        </p:nvSpPr>
        <p:spPr>
          <a:xfrm>
            <a:off x="320040" y="6455664"/>
            <a:ext cx="2011680" cy="329184"/>
          </a:xfrm>
          <a:prstGeom prst="rect">
            <a:avLst/>
          </a:prstGeom>
          <a:noFill/>
          <a:ln/>
        </p:spPr>
        <p:txBody>
          <a:bodyPr wrap="square" rtlCol="0" anchor="ctr"/>
          <a:lstStyle/>
          <a:p>
            <a:pPr rtl="1" algn="l" indent="0" marL="0">
              <a:buNone/>
            </a:pPr>
            <a:r>
              <a:rPr lang="en-US" sz="1000" dirty="0">
                <a:solidFill>
                  <a:srgbClr val="6B7280"/>
                </a:solidFill>
                <a:latin typeface="Vazirmatn" pitchFamily="34" charset="0"/>
                <a:ea typeface="Vazirmatn" pitchFamily="34" charset="-122"/>
                <a:cs typeface="Vazirmatn" pitchFamily="34" charset="-120"/>
              </a:rPr>
              <a:t>۳ از ۹</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274552" y="384048"/>
            <a:ext cx="73152" cy="566928"/>
          </a:xfrm>
          <a:prstGeom prst="rect">
            <a:avLst/>
          </a:prstGeom>
          <a:solidFill>
            <a:srgbClr val="0E7C7B"/>
          </a:solidFill>
          <a:ln/>
        </p:spPr>
      </p:sp>
      <p:sp>
        <p:nvSpPr>
          <p:cNvPr id="3" name="Text 1"/>
          <p:cNvSpPr/>
          <p:nvPr/>
        </p:nvSpPr>
        <p:spPr>
          <a:xfrm>
            <a:off x="548640" y="292608"/>
            <a:ext cx="10561320" cy="713232"/>
          </a:xfrm>
          <a:prstGeom prst="rect">
            <a:avLst/>
          </a:prstGeom>
          <a:noFill/>
          <a:ln/>
        </p:spPr>
        <p:txBody>
          <a:bodyPr wrap="square" rtlCol="0" anchor="ctr"/>
          <a:lstStyle/>
          <a:p>
            <a:pPr rtl="1" algn="r" indent="0" marL="0">
              <a:buNone/>
            </a:pPr>
            <a:r>
              <a:rPr lang="en-US" sz="2600" b="1" dirty="0">
                <a:solidFill>
                  <a:srgbClr val="1F3A5F"/>
                </a:solidFill>
                <a:latin typeface="Vazirmatn" pitchFamily="34" charset="0"/>
                <a:ea typeface="Vazirmatn" pitchFamily="34" charset="-122"/>
                <a:cs typeface="Vazirmatn" pitchFamily="34" charset="-120"/>
              </a:rPr>
              <a:t>راه‌حل: Transformer (۲۰۱۷)</a:t>
            </a:r>
            <a:endParaRPr lang="en-US" sz="2600" dirty="0"/>
          </a:p>
        </p:txBody>
      </p:sp>
      <p:sp>
        <p:nvSpPr>
          <p:cNvPr id="4" name="Shape 2"/>
          <p:cNvSpPr/>
          <p:nvPr/>
        </p:nvSpPr>
        <p:spPr>
          <a:xfrm>
            <a:off x="8095488" y="1600200"/>
            <a:ext cx="3544824" cy="3200400"/>
          </a:xfrm>
          <a:prstGeom prst="roundRect">
            <a:avLst>
              <a:gd name="adj" fmla="val 2571"/>
            </a:avLst>
          </a:prstGeom>
          <a:solidFill>
            <a:srgbClr val="F2F4F7"/>
          </a:solidFill>
          <a:ln w="12700">
            <a:solidFill>
              <a:srgbClr val="DDE3EA"/>
            </a:solidFill>
            <a:prstDash val="solid"/>
          </a:ln>
        </p:spPr>
      </p:sp>
      <p:sp>
        <p:nvSpPr>
          <p:cNvPr id="5" name="Shape 3"/>
          <p:cNvSpPr/>
          <p:nvPr/>
        </p:nvSpPr>
        <p:spPr>
          <a:xfrm>
            <a:off x="11548872" y="1828800"/>
            <a:ext cx="54864" cy="457200"/>
          </a:xfrm>
          <a:prstGeom prst="rect">
            <a:avLst/>
          </a:prstGeom>
          <a:solidFill>
            <a:srgbClr val="0E7C7B"/>
          </a:solidFill>
          <a:ln/>
        </p:spPr>
      </p:sp>
      <p:sp>
        <p:nvSpPr>
          <p:cNvPr id="6" name="Text 4"/>
          <p:cNvSpPr/>
          <p:nvPr/>
        </p:nvSpPr>
        <p:spPr>
          <a:xfrm>
            <a:off x="8324088" y="1801368"/>
            <a:ext cx="3041904" cy="594360"/>
          </a:xfrm>
          <a:prstGeom prst="rect">
            <a:avLst/>
          </a:prstGeom>
          <a:noFill/>
          <a:ln/>
        </p:spPr>
        <p:txBody>
          <a:bodyPr wrap="square" rtlCol="0" anchor="ctr"/>
          <a:lstStyle/>
          <a:p>
            <a:pPr rtl="1" algn="r" indent="0" marL="0">
              <a:buNone/>
            </a:pPr>
            <a:r>
              <a:rPr lang="en-US" sz="1700" b="1" dirty="0">
                <a:solidFill>
                  <a:srgbClr val="1F3A5F"/>
                </a:solidFill>
                <a:latin typeface="Vazirmatn" pitchFamily="34" charset="0"/>
                <a:ea typeface="Vazirmatn" pitchFamily="34" charset="-122"/>
                <a:cs typeface="Vazirmatn" pitchFamily="34" charset="-120"/>
              </a:rPr>
              <a:t>دیدن هم‌زمان</a:t>
            </a:r>
            <a:endParaRPr lang="en-US" sz="1700" dirty="0"/>
          </a:p>
        </p:txBody>
      </p:sp>
      <p:sp>
        <p:nvSpPr>
          <p:cNvPr id="7" name="Text 5"/>
          <p:cNvSpPr/>
          <p:nvPr/>
        </p:nvSpPr>
        <p:spPr>
          <a:xfrm>
            <a:off x="8324088" y="2468880"/>
            <a:ext cx="3041904" cy="2148840"/>
          </a:xfrm>
          <a:prstGeom prst="rect">
            <a:avLst/>
          </a:prstGeom>
          <a:noFill/>
          <a:ln/>
        </p:spPr>
        <p:txBody>
          <a:bodyPr wrap="square" rtlCol="0" anchor="t"/>
          <a:lstStyle/>
          <a:p>
            <a:pPr rtl="1" algn="r" indent="0" marL="0">
              <a:lnSpc>
                <a:spcPts val="2200"/>
              </a:lnSpc>
              <a:buNone/>
            </a:pPr>
            <a:r>
              <a:rPr lang="en-US" sz="1250" dirty="0">
                <a:solidFill>
                  <a:srgbClr val="333333"/>
                </a:solidFill>
                <a:latin typeface="Vazirmatn" pitchFamily="34" charset="0"/>
                <a:ea typeface="Vazirmatn" pitchFamily="34" charset="-122"/>
                <a:cs typeface="Vazirmatn" pitchFamily="34" charset="-120"/>
              </a:rPr>
              <a:t>به‌جای خواندن کلمه‌به‌کلمه، همهٔ کلمات جمله را با هم می‌بیند (پردازش موازی)</a:t>
            </a:r>
            <a:endParaRPr lang="en-US" sz="1250" dirty="0"/>
          </a:p>
        </p:txBody>
      </p:sp>
      <p:sp>
        <p:nvSpPr>
          <p:cNvPr id="8" name="Shape 6"/>
          <p:cNvSpPr/>
          <p:nvPr/>
        </p:nvSpPr>
        <p:spPr>
          <a:xfrm>
            <a:off x="4322064" y="1600200"/>
            <a:ext cx="3544824" cy="3200400"/>
          </a:xfrm>
          <a:prstGeom prst="roundRect">
            <a:avLst>
              <a:gd name="adj" fmla="val 2571"/>
            </a:avLst>
          </a:prstGeom>
          <a:solidFill>
            <a:srgbClr val="F2F4F7"/>
          </a:solidFill>
          <a:ln w="12700">
            <a:solidFill>
              <a:srgbClr val="DDE3EA"/>
            </a:solidFill>
            <a:prstDash val="solid"/>
          </a:ln>
        </p:spPr>
      </p:sp>
      <p:sp>
        <p:nvSpPr>
          <p:cNvPr id="9" name="Shape 7"/>
          <p:cNvSpPr/>
          <p:nvPr/>
        </p:nvSpPr>
        <p:spPr>
          <a:xfrm>
            <a:off x="7775448" y="1828800"/>
            <a:ext cx="54864" cy="457200"/>
          </a:xfrm>
          <a:prstGeom prst="rect">
            <a:avLst/>
          </a:prstGeom>
          <a:solidFill>
            <a:srgbClr val="0E7C7B"/>
          </a:solidFill>
          <a:ln/>
        </p:spPr>
      </p:sp>
      <p:sp>
        <p:nvSpPr>
          <p:cNvPr id="10" name="Text 8"/>
          <p:cNvSpPr/>
          <p:nvPr/>
        </p:nvSpPr>
        <p:spPr>
          <a:xfrm>
            <a:off x="4550664" y="1801368"/>
            <a:ext cx="3041904" cy="594360"/>
          </a:xfrm>
          <a:prstGeom prst="rect">
            <a:avLst/>
          </a:prstGeom>
          <a:noFill/>
          <a:ln/>
        </p:spPr>
        <p:txBody>
          <a:bodyPr wrap="square" rtlCol="0" anchor="ctr"/>
          <a:lstStyle/>
          <a:p>
            <a:pPr rtl="1" algn="r" indent="0" marL="0">
              <a:buNone/>
            </a:pPr>
            <a:r>
              <a:rPr lang="en-US" sz="1700" b="1" dirty="0">
                <a:solidFill>
                  <a:srgbClr val="1F3A5F"/>
                </a:solidFill>
                <a:latin typeface="Vazirmatn" pitchFamily="34" charset="0"/>
                <a:ea typeface="Vazirmatn" pitchFamily="34" charset="-122"/>
                <a:cs typeface="Vazirmatn" pitchFamily="34" charset="-120"/>
              </a:rPr>
              <a:t>ارتباط دوسویه</a:t>
            </a:r>
            <a:endParaRPr lang="en-US" sz="1700" dirty="0"/>
          </a:p>
        </p:txBody>
      </p:sp>
      <p:sp>
        <p:nvSpPr>
          <p:cNvPr id="11" name="Text 9"/>
          <p:cNvSpPr/>
          <p:nvPr/>
        </p:nvSpPr>
        <p:spPr>
          <a:xfrm>
            <a:off x="4550664" y="2468880"/>
            <a:ext cx="3041904" cy="2148840"/>
          </a:xfrm>
          <a:prstGeom prst="rect">
            <a:avLst/>
          </a:prstGeom>
          <a:noFill/>
          <a:ln/>
        </p:spPr>
        <p:txBody>
          <a:bodyPr wrap="square" rtlCol="0" anchor="t"/>
          <a:lstStyle/>
          <a:p>
            <a:pPr rtl="1" algn="r" indent="0" marL="0">
              <a:lnSpc>
                <a:spcPts val="2200"/>
              </a:lnSpc>
              <a:buNone/>
            </a:pPr>
            <a:r>
              <a:rPr lang="en-US" sz="1250" dirty="0">
                <a:solidFill>
                  <a:srgbClr val="333333"/>
                </a:solidFill>
                <a:latin typeface="Vazirmatn" pitchFamily="34" charset="0"/>
                <a:ea typeface="Vazirmatn" pitchFamily="34" charset="-122"/>
                <a:cs typeface="Vazirmatn" pitchFamily="34" charset="-120"/>
              </a:rPr>
              <a:t>هر کلمه ارتباطش را با همهٔ کلمات دیگر محاسبه می‌کند</a:t>
            </a:r>
            <a:endParaRPr lang="en-US" sz="1250" dirty="0"/>
          </a:p>
        </p:txBody>
      </p:sp>
      <p:sp>
        <p:nvSpPr>
          <p:cNvPr id="12" name="Shape 10"/>
          <p:cNvSpPr/>
          <p:nvPr/>
        </p:nvSpPr>
        <p:spPr>
          <a:xfrm>
            <a:off x="548640" y="1600200"/>
            <a:ext cx="3544824" cy="3200400"/>
          </a:xfrm>
          <a:prstGeom prst="roundRect">
            <a:avLst>
              <a:gd name="adj" fmla="val 2571"/>
            </a:avLst>
          </a:prstGeom>
          <a:solidFill>
            <a:srgbClr val="F2F4F7"/>
          </a:solidFill>
          <a:ln w="12700">
            <a:solidFill>
              <a:srgbClr val="DDE3EA"/>
            </a:solidFill>
            <a:prstDash val="solid"/>
          </a:ln>
        </p:spPr>
      </p:sp>
      <p:sp>
        <p:nvSpPr>
          <p:cNvPr id="13" name="Shape 11"/>
          <p:cNvSpPr/>
          <p:nvPr/>
        </p:nvSpPr>
        <p:spPr>
          <a:xfrm>
            <a:off x="4002024" y="1828800"/>
            <a:ext cx="54864" cy="457200"/>
          </a:xfrm>
          <a:prstGeom prst="rect">
            <a:avLst/>
          </a:prstGeom>
          <a:solidFill>
            <a:srgbClr val="0E7C7B"/>
          </a:solidFill>
          <a:ln/>
        </p:spPr>
      </p:sp>
      <p:sp>
        <p:nvSpPr>
          <p:cNvPr id="14" name="Text 12"/>
          <p:cNvSpPr/>
          <p:nvPr/>
        </p:nvSpPr>
        <p:spPr>
          <a:xfrm>
            <a:off x="777240" y="1801368"/>
            <a:ext cx="3041904" cy="594360"/>
          </a:xfrm>
          <a:prstGeom prst="rect">
            <a:avLst/>
          </a:prstGeom>
          <a:noFill/>
          <a:ln/>
        </p:spPr>
        <p:txBody>
          <a:bodyPr wrap="square" rtlCol="0" anchor="ctr"/>
          <a:lstStyle/>
          <a:p>
            <a:pPr rtl="1" algn="r" indent="0" marL="0">
              <a:buNone/>
            </a:pPr>
            <a:r>
              <a:rPr lang="en-US" sz="1700" b="1" dirty="0">
                <a:solidFill>
                  <a:srgbClr val="1F3A5F"/>
                </a:solidFill>
                <a:latin typeface="Vazirmatn" pitchFamily="34" charset="0"/>
                <a:ea typeface="Vazirmatn" pitchFamily="34" charset="-122"/>
                <a:cs typeface="Vazirmatn" pitchFamily="34" charset="-120"/>
              </a:rPr>
              <a:t>پیامد</a:t>
            </a:r>
            <a:endParaRPr lang="en-US" sz="1700" dirty="0"/>
          </a:p>
        </p:txBody>
      </p:sp>
      <p:sp>
        <p:nvSpPr>
          <p:cNvPr id="15" name="Text 13"/>
          <p:cNvSpPr/>
          <p:nvPr/>
        </p:nvSpPr>
        <p:spPr>
          <a:xfrm>
            <a:off x="777240" y="2468880"/>
            <a:ext cx="3041904" cy="2148840"/>
          </a:xfrm>
          <a:prstGeom prst="rect">
            <a:avLst/>
          </a:prstGeom>
          <a:noFill/>
          <a:ln/>
        </p:spPr>
        <p:txBody>
          <a:bodyPr wrap="square" rtlCol="0" anchor="t"/>
          <a:lstStyle/>
          <a:p>
            <a:pPr rtl="1" algn="r" indent="0" marL="0">
              <a:lnSpc>
                <a:spcPts val="2200"/>
              </a:lnSpc>
              <a:buNone/>
            </a:pPr>
            <a:r>
              <a:rPr lang="en-US" sz="1250" dirty="0">
                <a:solidFill>
                  <a:srgbClr val="333333"/>
                </a:solidFill>
                <a:latin typeface="Vazirmatn" pitchFamily="34" charset="0"/>
                <a:ea typeface="Vazirmatn" pitchFamily="34" charset="-122"/>
                <a:cs typeface="Vazirmatn" pitchFamily="34" charset="-120"/>
              </a:rPr>
              <a:t>درک وابستگی‌های دور و تولید متن روان؛ پایهٔ GPT، Claude، BERT</a:t>
            </a:r>
            <a:endParaRPr lang="en-US" sz="1250" dirty="0"/>
          </a:p>
        </p:txBody>
      </p:sp>
      <p:sp>
        <p:nvSpPr>
          <p:cNvPr id="17" name="Text 14"/>
          <p:cNvSpPr/>
          <p:nvPr/>
        </p:nvSpPr>
        <p:spPr>
          <a:xfrm>
            <a:off x="5486400" y="6455664"/>
            <a:ext cx="6309360" cy="329184"/>
          </a:xfrm>
          <a:prstGeom prst="rect">
            <a:avLst/>
          </a:prstGeom>
          <a:noFill/>
          <a:ln/>
        </p:spPr>
        <p:txBody>
          <a:bodyPr wrap="square" rtlCol="0" anchor="ctr"/>
          <a:lstStyle/>
          <a:p>
            <a:pPr rtl="1" algn="r" indent="0" marL="0">
              <a:buNone/>
            </a:pPr>
            <a:r>
              <a:rPr lang="en-US" sz="1000" dirty="0">
                <a:solidFill>
                  <a:srgbClr val="6B7280"/>
                </a:solidFill>
                <a:latin typeface="Vazirmatn" pitchFamily="34" charset="0"/>
                <a:ea typeface="Vazirmatn" pitchFamily="34" charset="-122"/>
                <a:cs typeface="Vazirmatn" pitchFamily="34" charset="-120"/>
              </a:rPr>
              <a:t>کارگاه ۱ • جلسهٔ ۶: Transformer</a:t>
            </a:r>
            <a:endParaRPr lang="en-US" sz="1000" dirty="0"/>
          </a:p>
        </p:txBody>
      </p:sp>
      <p:sp>
        <p:nvSpPr>
          <p:cNvPr id="18" name="Text 15"/>
          <p:cNvSpPr/>
          <p:nvPr/>
        </p:nvSpPr>
        <p:spPr>
          <a:xfrm>
            <a:off x="320040" y="6455664"/>
            <a:ext cx="2011680" cy="329184"/>
          </a:xfrm>
          <a:prstGeom prst="rect">
            <a:avLst/>
          </a:prstGeom>
          <a:noFill/>
          <a:ln/>
        </p:spPr>
        <p:txBody>
          <a:bodyPr wrap="square" rtlCol="0" anchor="ctr"/>
          <a:lstStyle/>
          <a:p>
            <a:pPr rtl="1" algn="l" indent="0" marL="0">
              <a:buNone/>
            </a:pPr>
            <a:r>
              <a:rPr lang="en-US" sz="1000" dirty="0">
                <a:solidFill>
                  <a:srgbClr val="6B7280"/>
                </a:solidFill>
                <a:latin typeface="Vazirmatn" pitchFamily="34" charset="0"/>
                <a:ea typeface="Vazirmatn" pitchFamily="34" charset="-122"/>
                <a:cs typeface="Vazirmatn" pitchFamily="34" charset="-120"/>
              </a:rPr>
              <a:t>۴ از ۹</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274552" y="384048"/>
            <a:ext cx="73152" cy="566928"/>
          </a:xfrm>
          <a:prstGeom prst="rect">
            <a:avLst/>
          </a:prstGeom>
          <a:solidFill>
            <a:srgbClr val="0E7C7B"/>
          </a:solidFill>
          <a:ln/>
        </p:spPr>
      </p:sp>
      <p:sp>
        <p:nvSpPr>
          <p:cNvPr id="3" name="Text 1"/>
          <p:cNvSpPr/>
          <p:nvPr/>
        </p:nvSpPr>
        <p:spPr>
          <a:xfrm>
            <a:off x="548640" y="292608"/>
            <a:ext cx="10561320" cy="713232"/>
          </a:xfrm>
          <a:prstGeom prst="rect">
            <a:avLst/>
          </a:prstGeom>
          <a:noFill/>
          <a:ln/>
        </p:spPr>
        <p:txBody>
          <a:bodyPr wrap="square" rtlCol="0" anchor="ctr"/>
          <a:lstStyle/>
          <a:p>
            <a:pPr rtl="1" algn="r" indent="0" marL="0">
              <a:buNone/>
            </a:pPr>
            <a:r>
              <a:rPr lang="en-US" sz="2600" b="1" dirty="0">
                <a:solidFill>
                  <a:srgbClr val="1F3A5F"/>
                </a:solidFill>
                <a:latin typeface="Vazirmatn" pitchFamily="34" charset="0"/>
                <a:ea typeface="Vazirmatn" pitchFamily="34" charset="-122"/>
                <a:cs typeface="Vazirmatn" pitchFamily="34" charset="-120"/>
              </a:rPr>
              <a:t>مرحلهٔ ۱: تبدیل کلمات به اعداد</a:t>
            </a:r>
            <a:endParaRPr lang="en-US" sz="2600" dirty="0"/>
          </a:p>
        </p:txBody>
      </p:sp>
      <p:sp>
        <p:nvSpPr>
          <p:cNvPr id="4" name="Text 2"/>
          <p:cNvSpPr/>
          <p:nvPr/>
        </p:nvSpPr>
        <p:spPr>
          <a:xfrm>
            <a:off x="548640" y="1325880"/>
            <a:ext cx="11064240" cy="4572000"/>
          </a:xfrm>
          <a:prstGeom prst="rect">
            <a:avLst/>
          </a:prstGeom>
          <a:noFill/>
          <a:ln/>
        </p:spPr>
        <p:txBody>
          <a:bodyPr wrap="square" rtlCol="0" anchor="t"/>
          <a:lstStyle/>
          <a:p>
            <a:pPr rtl="1" algn="r" marL="127000" indent="-127000">
              <a:lnSpc>
                <a:spcPts val="2600"/>
              </a:lnSpc>
              <a:spcAft>
                <a:spcPts val="1000"/>
              </a:spcAft>
              <a:buSzPct val="100000"/>
              <a:buChar char="•"/>
            </a:pPr>
            <a:r>
              <a:rPr lang="en-US" sz="1700" dirty="0">
                <a:solidFill>
                  <a:srgbClr val="333333"/>
                </a:solidFill>
                <a:latin typeface="Vazirmatn" pitchFamily="34" charset="0"/>
                <a:ea typeface="Vazirmatn" pitchFamily="34" charset="-122"/>
                <a:cs typeface="Vazirmatn" pitchFamily="34" charset="-120"/>
              </a:rPr>
              <a:t>هر کلمه به یک لیست بلند از اعداد (بردار) تبدیل می‌شود که معنایش را حمل می‌کند: «گربه» ← [۰٫۲، ۰٫۸، ۰٫۱، ...]</a:t>
            </a:r>
            <a:pPr rtl="1" algn="r" marL="127000" indent="-127000">
              <a:lnSpc>
                <a:spcPts val="2600"/>
              </a:lnSpc>
              <a:spcAft>
                <a:spcPts val="1000"/>
              </a:spcAft>
              <a:buSzPct val="100000"/>
              <a:buChar char="•"/>
            </a:pPr>
            <a:r>
              <a:rPr lang="en-US" sz="1700" dirty="0">
                <a:solidFill>
                  <a:srgbClr val="333333"/>
                </a:solidFill>
                <a:latin typeface="Vazirmatn" pitchFamily="34" charset="0"/>
                <a:ea typeface="Vazirmatn" pitchFamily="34" charset="-122"/>
                <a:cs typeface="Vazirmatn" pitchFamily="34" charset="-120"/>
              </a:rPr>
              <a:t>کلمات مشابه، عددهای مشابه می‌گیرند؛ پس «معنا» در فضای عددی قابل سنجش می‌شود.</a:t>
            </a:r>
            <a:pPr rtl="1" algn="r" marL="127000" indent="-127000">
              <a:lnSpc>
                <a:spcPts val="2600"/>
              </a:lnSpc>
              <a:spcAft>
                <a:spcPts val="1000"/>
              </a:spcAft>
              <a:buSzPct val="100000"/>
              <a:buChar char="•"/>
            </a:pPr>
            <a:r>
              <a:rPr lang="en-US" sz="1700" dirty="0">
                <a:solidFill>
                  <a:srgbClr val="333333"/>
                </a:solidFill>
                <a:latin typeface="Vazirmatn" pitchFamily="34" charset="0"/>
                <a:ea typeface="Vazirmatn" pitchFamily="34" charset="-122"/>
                <a:cs typeface="Vazirmatn" pitchFamily="34" charset="-120"/>
              </a:rPr>
              <a:t>مثال: «شیر» به‌تنهایی مبهم است: در «شیر جنگل» حیوان است، در «شیر آب» وسیلهٔ آشپزخانه، در «شیر خوردن» نوشیدنی.</a:t>
            </a:r>
            <a:pPr rtl="1" algn="r" marL="127000" indent="-127000">
              <a:lnSpc>
                <a:spcPts val="2600"/>
              </a:lnSpc>
              <a:spcAft>
                <a:spcPts val="1000"/>
              </a:spcAft>
              <a:buSzPct val="100000"/>
              <a:buChar char="•"/>
            </a:pPr>
            <a:r>
              <a:rPr lang="en-US" sz="1700" dirty="0">
                <a:solidFill>
                  <a:srgbClr val="333333"/>
                </a:solidFill>
                <a:latin typeface="Vazirmatn" pitchFamily="34" charset="0"/>
                <a:ea typeface="Vazirmatn" pitchFamily="34" charset="-122"/>
                <a:cs typeface="Vazirmatn" pitchFamily="34" charset="-120"/>
              </a:rPr>
              <a:t>کدام معنا؟ مرحلهٔ بعد (Attention) با کمک زمینه مشخص می‌کند.</a:t>
            </a:r>
            <a:endParaRPr lang="en-US" sz="1700" dirty="0"/>
          </a:p>
        </p:txBody>
      </p:sp>
      <p:pic>
        <p:nvPicPr>
          <p:cNvPr id="5" name="Image 0" descr="/home/nsafari/projects/hobbies/ai-training/workshops/slide-assets/word-embedding.png">    </p:cNvPr>
          <p:cNvPicPr>
            <a:picLocks noChangeAspect="1"/>
          </p:cNvPicPr>
          <p:nvPr/>
        </p:nvPicPr>
        <p:blipFill>
          <a:blip r:embed="rId1"/>
          <a:stretch>
            <a:fillRect/>
          </a:stretch>
        </p:blipFill>
        <p:spPr>
          <a:xfrm>
            <a:off x="548640" y="4297680"/>
            <a:ext cx="4206240" cy="1874520"/>
          </a:xfrm>
          <a:prstGeom prst="rect">
            <a:avLst/>
          </a:prstGeom>
        </p:spPr>
      </p:pic>
      <p:sp>
        <p:nvSpPr>
          <p:cNvPr id="6" name="Text 3"/>
          <p:cNvSpPr/>
          <p:nvPr/>
        </p:nvSpPr>
        <p:spPr>
          <a:xfrm>
            <a:off x="548640" y="6217920"/>
            <a:ext cx="4206240" cy="274320"/>
          </a:xfrm>
          <a:prstGeom prst="rect">
            <a:avLst/>
          </a:prstGeom>
          <a:noFill/>
          <a:ln/>
        </p:spPr>
        <p:txBody>
          <a:bodyPr wrap="square" rtlCol="0" anchor="ctr"/>
          <a:lstStyle/>
          <a:p>
            <a:pPr rtl="1" algn="r" indent="0" marL="0">
              <a:buNone/>
            </a:pPr>
            <a:r>
              <a:rPr lang="en-US" sz="950" dirty="0">
                <a:solidFill>
                  <a:srgbClr val="6B7280"/>
                </a:solidFill>
                <a:latin typeface="Vazirmatn" pitchFamily="34" charset="0"/>
                <a:ea typeface="Vazirmatn" pitchFamily="34" charset="-122"/>
                <a:cs typeface="Vazirmatn" pitchFamily="34" charset="-120"/>
              </a:rPr>
              <a:t>تصویر: درس یادگیری ماشین دانشگاه شریف</a:t>
            </a:r>
            <a:endParaRPr lang="en-US" sz="950" dirty="0"/>
          </a:p>
        </p:txBody>
      </p:sp>
      <p:sp>
        <p:nvSpPr>
          <p:cNvPr id="8" name="Text 4"/>
          <p:cNvSpPr/>
          <p:nvPr/>
        </p:nvSpPr>
        <p:spPr>
          <a:xfrm>
            <a:off x="5486400" y="6455664"/>
            <a:ext cx="6309360" cy="329184"/>
          </a:xfrm>
          <a:prstGeom prst="rect">
            <a:avLst/>
          </a:prstGeom>
          <a:noFill/>
          <a:ln/>
        </p:spPr>
        <p:txBody>
          <a:bodyPr wrap="square" rtlCol="0" anchor="ctr"/>
          <a:lstStyle/>
          <a:p>
            <a:pPr rtl="1" algn="r" indent="0" marL="0">
              <a:buNone/>
            </a:pPr>
            <a:r>
              <a:rPr lang="en-US" sz="1000" dirty="0">
                <a:solidFill>
                  <a:srgbClr val="6B7280"/>
                </a:solidFill>
                <a:latin typeface="Vazirmatn" pitchFamily="34" charset="0"/>
                <a:ea typeface="Vazirmatn" pitchFamily="34" charset="-122"/>
                <a:cs typeface="Vazirmatn" pitchFamily="34" charset="-120"/>
              </a:rPr>
              <a:t>کارگاه ۱ • جلسهٔ ۶: Transformer</a:t>
            </a:r>
            <a:endParaRPr lang="en-US" sz="1000" dirty="0"/>
          </a:p>
        </p:txBody>
      </p:sp>
      <p:sp>
        <p:nvSpPr>
          <p:cNvPr id="9" name="Text 5"/>
          <p:cNvSpPr/>
          <p:nvPr/>
        </p:nvSpPr>
        <p:spPr>
          <a:xfrm>
            <a:off x="320040" y="6455664"/>
            <a:ext cx="2011680" cy="329184"/>
          </a:xfrm>
          <a:prstGeom prst="rect">
            <a:avLst/>
          </a:prstGeom>
          <a:noFill/>
          <a:ln/>
        </p:spPr>
        <p:txBody>
          <a:bodyPr wrap="square" rtlCol="0" anchor="ctr"/>
          <a:lstStyle/>
          <a:p>
            <a:pPr rtl="1" algn="l" indent="0" marL="0">
              <a:buNone/>
            </a:pPr>
            <a:r>
              <a:rPr lang="en-US" sz="1000" dirty="0">
                <a:solidFill>
                  <a:srgbClr val="6B7280"/>
                </a:solidFill>
                <a:latin typeface="Vazirmatn" pitchFamily="34" charset="0"/>
                <a:ea typeface="Vazirmatn" pitchFamily="34" charset="-122"/>
                <a:cs typeface="Vazirmatn" pitchFamily="34" charset="-120"/>
              </a:rPr>
              <a:t>۵ از ۹</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274552" y="384048"/>
            <a:ext cx="73152" cy="566928"/>
          </a:xfrm>
          <a:prstGeom prst="rect">
            <a:avLst/>
          </a:prstGeom>
          <a:solidFill>
            <a:srgbClr val="0E7C7B"/>
          </a:solidFill>
          <a:ln/>
        </p:spPr>
      </p:sp>
      <p:sp>
        <p:nvSpPr>
          <p:cNvPr id="3" name="Text 1"/>
          <p:cNvSpPr/>
          <p:nvPr/>
        </p:nvSpPr>
        <p:spPr>
          <a:xfrm>
            <a:off x="548640" y="292608"/>
            <a:ext cx="10561320" cy="713232"/>
          </a:xfrm>
          <a:prstGeom prst="rect">
            <a:avLst/>
          </a:prstGeom>
          <a:noFill/>
          <a:ln/>
        </p:spPr>
        <p:txBody>
          <a:bodyPr wrap="square" rtlCol="0" anchor="ctr"/>
          <a:lstStyle/>
          <a:p>
            <a:pPr rtl="1" algn="r" indent="0" marL="0">
              <a:buNone/>
            </a:pPr>
            <a:r>
              <a:rPr lang="en-US" sz="2600" b="1" dirty="0">
                <a:solidFill>
                  <a:srgbClr val="1F3A5F"/>
                </a:solidFill>
                <a:latin typeface="Vazirmatn" pitchFamily="34" charset="0"/>
                <a:ea typeface="Vazirmatn" pitchFamily="34" charset="-122"/>
                <a:cs typeface="Vazirmatn" pitchFamily="34" charset="-120"/>
              </a:rPr>
              <a:t>مرحلهٔ ۲: Attention (توجه)</a:t>
            </a:r>
            <a:endParaRPr lang="en-US" sz="2600" dirty="0"/>
          </a:p>
        </p:txBody>
      </p:sp>
      <p:sp>
        <p:nvSpPr>
          <p:cNvPr id="4" name="Text 2"/>
          <p:cNvSpPr/>
          <p:nvPr/>
        </p:nvSpPr>
        <p:spPr>
          <a:xfrm>
            <a:off x="548640" y="1325880"/>
            <a:ext cx="11064240" cy="4572000"/>
          </a:xfrm>
          <a:prstGeom prst="rect">
            <a:avLst/>
          </a:prstGeom>
          <a:noFill/>
          <a:ln/>
        </p:spPr>
        <p:txBody>
          <a:bodyPr wrap="square" rtlCol="0" anchor="t"/>
          <a:lstStyle/>
          <a:p>
            <a:pPr rtl="1" algn="r" marL="127000" indent="-127000">
              <a:lnSpc>
                <a:spcPts val="2600"/>
              </a:lnSpc>
              <a:spcAft>
                <a:spcPts val="1000"/>
              </a:spcAft>
              <a:buSzPct val="100000"/>
              <a:buChar char="•"/>
            </a:pPr>
            <a:r>
              <a:rPr lang="en-US" sz="1700" dirty="0">
                <a:solidFill>
                  <a:srgbClr val="333333"/>
                </a:solidFill>
                <a:latin typeface="Vazirmatn" pitchFamily="34" charset="0"/>
                <a:ea typeface="Vazirmatn" pitchFamily="34" charset="-122"/>
                <a:cs typeface="Vazirmatn" pitchFamily="34" charset="-120"/>
              </a:rPr>
              <a:t>هر کلمه میزان ارتباطش با همهٔ کلمات دیگر را محاسبه می‌کند و به کلماتِ مرتبط‌تر توجهٔ بیشتری می‌دهد.</a:t>
            </a:r>
            <a:pPr rtl="1" algn="r" marL="127000" indent="-127000">
              <a:lnSpc>
                <a:spcPts val="2600"/>
              </a:lnSpc>
              <a:spcAft>
                <a:spcPts val="1000"/>
              </a:spcAft>
              <a:buSzPct val="100000"/>
              <a:buChar char="•"/>
            </a:pPr>
            <a:r>
              <a:rPr lang="en-US" sz="1700" dirty="0">
                <a:solidFill>
                  <a:srgbClr val="333333"/>
                </a:solidFill>
                <a:latin typeface="Vazirmatn" pitchFamily="34" charset="0"/>
                <a:ea typeface="Vazirmatn" pitchFamily="34" charset="-122"/>
                <a:cs typeface="Vazirmatn" pitchFamily="34" charset="-120"/>
              </a:rPr>
              <a:t>نتیجه: معنای هر کلمه بر اساس زمینهٔ جمله اصلاح می‌شود.</a:t>
            </a:r>
            <a:pPr rtl="1" algn="r" marL="127000" indent="-127000">
              <a:lnSpc>
                <a:spcPts val="2600"/>
              </a:lnSpc>
              <a:spcAft>
                <a:spcPts val="1000"/>
              </a:spcAft>
              <a:buSzPct val="100000"/>
              <a:buChar char="•"/>
            </a:pPr>
            <a:r>
              <a:rPr lang="en-US" sz="1700" dirty="0">
                <a:solidFill>
                  <a:srgbClr val="333333"/>
                </a:solidFill>
                <a:latin typeface="Vazirmatn" pitchFamily="34" charset="0"/>
                <a:ea typeface="Vazirmatn" pitchFamily="34" charset="-122"/>
                <a:cs typeface="Vazirmatn" pitchFamily="34" charset="-120"/>
              </a:rPr>
              <a:t>مثال: در «علی به بانک رفت چون او پول لازم داشت»، واژهٔ «او» بیشتر از همه به «علی» توجه می‌کند.</a:t>
            </a:r>
            <a:endParaRPr lang="en-US" sz="1700" dirty="0"/>
          </a:p>
        </p:txBody>
      </p:sp>
      <p:pic>
        <p:nvPicPr>
          <p:cNvPr id="5" name="Image 0" descr="/home/nsafari/projects/hobbies/ai-training/workshops/slide-assets/self-attention.png">    </p:cNvPr>
          <p:cNvPicPr>
            <a:picLocks noChangeAspect="1"/>
          </p:cNvPicPr>
          <p:nvPr/>
        </p:nvPicPr>
        <p:blipFill>
          <a:blip r:embed="rId1"/>
          <a:stretch>
            <a:fillRect/>
          </a:stretch>
        </p:blipFill>
        <p:spPr>
          <a:xfrm>
            <a:off x="548640" y="4160520"/>
            <a:ext cx="8778240" cy="2286000"/>
          </a:xfrm>
          <a:prstGeom prst="rect">
            <a:avLst/>
          </a:prstGeom>
        </p:spPr>
      </p:pic>
      <p:sp>
        <p:nvSpPr>
          <p:cNvPr id="6" name="Text 3"/>
          <p:cNvSpPr/>
          <p:nvPr/>
        </p:nvSpPr>
        <p:spPr>
          <a:xfrm>
            <a:off x="548640" y="6419088"/>
            <a:ext cx="5486400" cy="320040"/>
          </a:xfrm>
          <a:prstGeom prst="rect">
            <a:avLst/>
          </a:prstGeom>
          <a:noFill/>
          <a:ln/>
        </p:spPr>
        <p:txBody>
          <a:bodyPr wrap="square" rtlCol="0" anchor="ctr"/>
          <a:lstStyle/>
          <a:p>
            <a:pPr rtl="1" algn="r" indent="0" marL="0">
              <a:buNone/>
            </a:pPr>
            <a:r>
              <a:rPr lang="en-US" sz="950" dirty="0">
                <a:solidFill>
                  <a:srgbClr val="6B7280"/>
                </a:solidFill>
                <a:latin typeface="Vazirmatn" pitchFamily="34" charset="0"/>
                <a:ea typeface="Vazirmatn" pitchFamily="34" charset="-122"/>
                <a:cs typeface="Vazirmatn" pitchFamily="34" charset="-120"/>
              </a:rPr>
              <a:t>تصویر: درس یادگیری ماشین دانشگاه شریف</a:t>
            </a:r>
            <a:endParaRPr lang="en-US" sz="950" dirty="0"/>
          </a:p>
        </p:txBody>
      </p:sp>
      <p:sp>
        <p:nvSpPr>
          <p:cNvPr id="8" name="Text 4"/>
          <p:cNvSpPr/>
          <p:nvPr/>
        </p:nvSpPr>
        <p:spPr>
          <a:xfrm>
            <a:off x="5486400" y="6455664"/>
            <a:ext cx="6309360" cy="329184"/>
          </a:xfrm>
          <a:prstGeom prst="rect">
            <a:avLst/>
          </a:prstGeom>
          <a:noFill/>
          <a:ln/>
        </p:spPr>
        <p:txBody>
          <a:bodyPr wrap="square" rtlCol="0" anchor="ctr"/>
          <a:lstStyle/>
          <a:p>
            <a:pPr rtl="1" algn="r" indent="0" marL="0">
              <a:buNone/>
            </a:pPr>
            <a:r>
              <a:rPr lang="en-US" sz="1000" dirty="0">
                <a:solidFill>
                  <a:srgbClr val="6B7280"/>
                </a:solidFill>
                <a:latin typeface="Vazirmatn" pitchFamily="34" charset="0"/>
                <a:ea typeface="Vazirmatn" pitchFamily="34" charset="-122"/>
                <a:cs typeface="Vazirmatn" pitchFamily="34" charset="-120"/>
              </a:rPr>
              <a:t>کارگاه ۱ • جلسهٔ ۶: Transformer</a:t>
            </a:r>
            <a:endParaRPr lang="en-US" sz="1000" dirty="0"/>
          </a:p>
        </p:txBody>
      </p:sp>
      <p:sp>
        <p:nvSpPr>
          <p:cNvPr id="9" name="Text 5"/>
          <p:cNvSpPr/>
          <p:nvPr/>
        </p:nvSpPr>
        <p:spPr>
          <a:xfrm>
            <a:off x="320040" y="6455664"/>
            <a:ext cx="2011680" cy="329184"/>
          </a:xfrm>
          <a:prstGeom prst="rect">
            <a:avLst/>
          </a:prstGeom>
          <a:noFill/>
          <a:ln/>
        </p:spPr>
        <p:txBody>
          <a:bodyPr wrap="square" rtlCol="0" anchor="ctr"/>
          <a:lstStyle/>
          <a:p>
            <a:pPr rtl="1" algn="l" indent="0" marL="0">
              <a:buNone/>
            </a:pPr>
            <a:r>
              <a:rPr lang="en-US" sz="1000" dirty="0">
                <a:solidFill>
                  <a:srgbClr val="6B7280"/>
                </a:solidFill>
                <a:latin typeface="Vazirmatn" pitchFamily="34" charset="0"/>
                <a:ea typeface="Vazirmatn" pitchFamily="34" charset="-122"/>
                <a:cs typeface="Vazirmatn" pitchFamily="34" charset="-120"/>
              </a:rPr>
              <a:t>۶ از ۹</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274552" y="384048"/>
            <a:ext cx="73152" cy="566928"/>
          </a:xfrm>
          <a:prstGeom prst="rect">
            <a:avLst/>
          </a:prstGeom>
          <a:solidFill>
            <a:srgbClr val="0E7C7B"/>
          </a:solidFill>
          <a:ln/>
        </p:spPr>
      </p:sp>
      <p:sp>
        <p:nvSpPr>
          <p:cNvPr id="3" name="Text 1"/>
          <p:cNvSpPr/>
          <p:nvPr/>
        </p:nvSpPr>
        <p:spPr>
          <a:xfrm>
            <a:off x="548640" y="292608"/>
            <a:ext cx="10561320" cy="713232"/>
          </a:xfrm>
          <a:prstGeom prst="rect">
            <a:avLst/>
          </a:prstGeom>
          <a:noFill/>
          <a:ln/>
        </p:spPr>
        <p:txBody>
          <a:bodyPr wrap="square" rtlCol="0" anchor="ctr"/>
          <a:lstStyle/>
          <a:p>
            <a:pPr rtl="1" algn="r" indent="0" marL="0">
              <a:buNone/>
            </a:pPr>
            <a:r>
              <a:rPr lang="en-US" sz="2600" b="1" dirty="0">
                <a:solidFill>
                  <a:srgbClr val="1F3A5F"/>
                </a:solidFill>
                <a:latin typeface="Vazirmatn" pitchFamily="34" charset="0"/>
                <a:ea typeface="Vazirmatn" pitchFamily="34" charset="-122"/>
                <a:cs typeface="Vazirmatn" pitchFamily="34" charset="-120"/>
              </a:rPr>
              <a:t>مثال دقیق: «او» به چه کسی برمی‌گردد؟</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06640" y="1371600"/>
          <a:ext cx="4206240" cy="914400"/>
        </p:xfrm>
        <a:graphic>
          <a:graphicData uri="http://schemas.openxmlformats.org/drawingml/2006/table">
            <a:tbl>
              <a:tblPr/>
              <a:tblGrid>
                <a:gridCol w="2194560"/>
                <a:gridCol w="2011680"/>
              </a:tblGrid>
              <a:tr h="475488">
                <a:tc>
                  <a:txBody>
                    <a:bodyPr/>
                    <a:lstStyle/>
                    <a:p>
                      <a:pPr rtl="1" algn="r" indent="0" marL="0">
                        <a:buNone/>
                      </a:pPr>
                      <a:r>
                        <a:rPr lang="en-US" sz="1500" b="1" dirty="0">
                          <a:solidFill>
                            <a:srgbClr val="FFFFFF"/>
                          </a:solidFill>
                          <a:latin typeface="Vazirmatn" pitchFamily="34" charset="0"/>
                          <a:ea typeface="Vazirmatn" pitchFamily="34" charset="-122"/>
                          <a:cs typeface="Vazirmatn" pitchFamily="34" charset="-120"/>
                        </a:rPr>
                        <a:t>سهم توجه «او»</a:t>
                      </a:r>
                      <a:endParaRPr lang="en-US" sz="1500" dirty="0">
                        <a:latin typeface="Vazirmatn" charset="0"/>
                        <a:ea typeface="Vazirmatn" charset="0"/>
                        <a:cs typeface="Vazirmatn" charset="0"/>
                      </a:endParaRPr>
                    </a:p>
                  </a:txBody>
                  <a:tcPr marL="101600" marR="101600" marT="50800" marB="5080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1F3A5F"/>
                    </a:solidFill>
                  </a:tcPr>
                </a:tc>
                <a:tc>
                  <a:txBody>
                    <a:bodyPr/>
                    <a:lstStyle/>
                    <a:p>
                      <a:pPr rtl="1" algn="r" indent="0" marL="0">
                        <a:buNone/>
                      </a:pPr>
                      <a:r>
                        <a:rPr lang="en-US" sz="1500" b="1" dirty="0">
                          <a:solidFill>
                            <a:srgbClr val="FFFFFF"/>
                          </a:solidFill>
                          <a:latin typeface="Vazirmatn" pitchFamily="34" charset="0"/>
                          <a:ea typeface="Vazirmatn" pitchFamily="34" charset="-122"/>
                          <a:cs typeface="Vazirmatn" pitchFamily="34" charset="-120"/>
                        </a:rPr>
                        <a:t>کلمه</a:t>
                      </a:r>
                      <a:endParaRPr lang="en-US" sz="1500" dirty="0">
                        <a:latin typeface="Vazirmatn" charset="0"/>
                        <a:ea typeface="Vazirmatn" charset="0"/>
                        <a:cs typeface="Vazirmatn" charset="0"/>
                      </a:endParaRPr>
                    </a:p>
                  </a:txBody>
                  <a:tcPr marL="101600" marR="101600" marT="50800" marB="5080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1F3A5F"/>
                    </a:solidFill>
                  </a:tcPr>
                </a:tc>
              </a:tr>
              <a:tr h="475488">
                <a:tc>
                  <a:txBody>
                    <a:bodyPr/>
                    <a:lstStyle/>
                    <a:p>
                      <a:pPr rtl="1" algn="r" indent="0" marL="0">
                        <a:buNone/>
                      </a:pPr>
                      <a:r>
                        <a:rPr lang="en-US" sz="1500" dirty="0">
                          <a:solidFill>
                            <a:srgbClr val="333333"/>
                          </a:solidFill>
                          <a:latin typeface="Vazirmatn" pitchFamily="34" charset="0"/>
                          <a:ea typeface="Vazirmatn" pitchFamily="34" charset="-122"/>
                          <a:cs typeface="Vazirmatn" pitchFamily="34" charset="-120"/>
                        </a:rPr>
                        <a:t>۷۰٪</a:t>
                      </a:r>
                      <a:endParaRPr lang="en-US" sz="1500" dirty="0">
                        <a:latin typeface="Vazirmatn" charset="0"/>
                        <a:ea typeface="Vazirmatn" charset="0"/>
                        <a:cs typeface="Vazirmatn" charset="0"/>
                      </a:endParaRPr>
                    </a:p>
                  </a:txBody>
                  <a:tcPr marL="101600" marR="101600" marT="50800" marB="5080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rtl="1" algn="r" indent="0" marL="0">
                        <a:buNone/>
                      </a:pPr>
                      <a:r>
                        <a:rPr lang="en-US" sz="1500" dirty="0">
                          <a:solidFill>
                            <a:srgbClr val="333333"/>
                          </a:solidFill>
                          <a:latin typeface="Vazirmatn" pitchFamily="34" charset="0"/>
                          <a:ea typeface="Vazirmatn" pitchFamily="34" charset="-122"/>
                          <a:cs typeface="Vazirmatn" pitchFamily="34" charset="-120"/>
                        </a:rPr>
                        <a:t>علی</a:t>
                      </a:r>
                      <a:endParaRPr lang="en-US" sz="1500" dirty="0">
                        <a:latin typeface="Vazirmatn" charset="0"/>
                        <a:ea typeface="Vazirmatn" charset="0"/>
                        <a:cs typeface="Vazirmatn" charset="0"/>
                      </a:endParaRPr>
                    </a:p>
                  </a:txBody>
                  <a:tcPr marL="101600" marR="101600" marT="50800" marB="5080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r>
              <a:tr h="475488">
                <a:tc>
                  <a:txBody>
                    <a:bodyPr/>
                    <a:lstStyle/>
                    <a:p>
                      <a:pPr rtl="1" algn="r" indent="0" marL="0">
                        <a:buNone/>
                      </a:pPr>
                      <a:r>
                        <a:rPr lang="en-US" sz="1500" dirty="0">
                          <a:solidFill>
                            <a:srgbClr val="333333"/>
                          </a:solidFill>
                          <a:latin typeface="Vazirmatn" pitchFamily="34" charset="0"/>
                          <a:ea typeface="Vazirmatn" pitchFamily="34" charset="-122"/>
                          <a:cs typeface="Vazirmatn" pitchFamily="34" charset="-120"/>
                        </a:rPr>
                        <a:t>۵٪</a:t>
                      </a:r>
                      <a:endParaRPr lang="en-US" sz="1500" dirty="0">
                        <a:latin typeface="Vazirmatn" charset="0"/>
                        <a:ea typeface="Vazirmatn" charset="0"/>
                        <a:cs typeface="Vazirmatn" charset="0"/>
                      </a:endParaRPr>
                    </a:p>
                  </a:txBody>
                  <a:tcPr marL="101600" marR="101600" marT="50800" marB="5080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2F4F7"/>
                    </a:solidFill>
                  </a:tcPr>
                </a:tc>
                <a:tc>
                  <a:txBody>
                    <a:bodyPr/>
                    <a:lstStyle/>
                    <a:p>
                      <a:pPr rtl="1" algn="r" indent="0" marL="0">
                        <a:buNone/>
                      </a:pPr>
                      <a:r>
                        <a:rPr lang="en-US" sz="1500" dirty="0">
                          <a:solidFill>
                            <a:srgbClr val="333333"/>
                          </a:solidFill>
                          <a:latin typeface="Vazirmatn" pitchFamily="34" charset="0"/>
                          <a:ea typeface="Vazirmatn" pitchFamily="34" charset="-122"/>
                          <a:cs typeface="Vazirmatn" pitchFamily="34" charset="-120"/>
                        </a:rPr>
                        <a:t>پول</a:t>
                      </a:r>
                      <a:endParaRPr lang="en-US" sz="1500" dirty="0">
                        <a:latin typeface="Vazirmatn" charset="0"/>
                        <a:ea typeface="Vazirmatn" charset="0"/>
                        <a:cs typeface="Vazirmatn" charset="0"/>
                      </a:endParaRPr>
                    </a:p>
                  </a:txBody>
                  <a:tcPr marL="101600" marR="101600" marT="50800" marB="5080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2F4F7"/>
                    </a:solidFill>
                  </a:tcPr>
                </a:tc>
              </a:tr>
              <a:tr h="475488">
                <a:tc>
                  <a:txBody>
                    <a:bodyPr/>
                    <a:lstStyle/>
                    <a:p>
                      <a:pPr rtl="1" algn="r" indent="0" marL="0">
                        <a:buNone/>
                      </a:pPr>
                      <a:r>
                        <a:rPr lang="en-US" sz="1500" dirty="0">
                          <a:solidFill>
                            <a:srgbClr val="333333"/>
                          </a:solidFill>
                          <a:latin typeface="Vazirmatn" pitchFamily="34" charset="0"/>
                          <a:ea typeface="Vazirmatn" pitchFamily="34" charset="-122"/>
                          <a:cs typeface="Vazirmatn" pitchFamily="34" charset="-120"/>
                        </a:rPr>
                        <a:t>۵٪</a:t>
                      </a:r>
                      <a:endParaRPr lang="en-US" sz="1500" dirty="0">
                        <a:latin typeface="Vazirmatn" charset="0"/>
                        <a:ea typeface="Vazirmatn" charset="0"/>
                        <a:cs typeface="Vazirmatn" charset="0"/>
                      </a:endParaRPr>
                    </a:p>
                  </a:txBody>
                  <a:tcPr marL="101600" marR="101600" marT="50800" marB="5080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rtl="1" algn="r" indent="0" marL="0">
                        <a:buNone/>
                      </a:pPr>
                      <a:r>
                        <a:rPr lang="en-US" sz="1500" dirty="0">
                          <a:solidFill>
                            <a:srgbClr val="333333"/>
                          </a:solidFill>
                          <a:latin typeface="Vazirmatn" pitchFamily="34" charset="0"/>
                          <a:ea typeface="Vazirmatn" pitchFamily="34" charset="-122"/>
                          <a:cs typeface="Vazirmatn" pitchFamily="34" charset="-120"/>
                        </a:rPr>
                        <a:t>بانک</a:t>
                      </a:r>
                      <a:endParaRPr lang="en-US" sz="1500" dirty="0">
                        <a:latin typeface="Vazirmatn" charset="0"/>
                        <a:ea typeface="Vazirmatn" charset="0"/>
                        <a:cs typeface="Vazirmatn" charset="0"/>
                      </a:endParaRPr>
                    </a:p>
                  </a:txBody>
                  <a:tcPr marL="101600" marR="101600" marT="50800" marB="5080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r>
              <a:tr h="475488">
                <a:tc>
                  <a:txBody>
                    <a:bodyPr/>
                    <a:lstStyle/>
                    <a:p>
                      <a:pPr rtl="1" algn="r" indent="0" marL="0">
                        <a:buNone/>
                      </a:pPr>
                      <a:r>
                        <a:rPr lang="en-US" sz="1500" dirty="0">
                          <a:solidFill>
                            <a:srgbClr val="333333"/>
                          </a:solidFill>
                          <a:latin typeface="Vazirmatn" pitchFamily="34" charset="0"/>
                          <a:ea typeface="Vazirmatn" pitchFamily="34" charset="-122"/>
                          <a:cs typeface="Vazirmatn" pitchFamily="34" charset="-120"/>
                        </a:rPr>
                        <a:t>مجموعاً ۲۰٪</a:t>
                      </a:r>
                      <a:endParaRPr lang="en-US" sz="1500" dirty="0">
                        <a:latin typeface="Vazirmatn" charset="0"/>
                        <a:ea typeface="Vazirmatn" charset="0"/>
                        <a:cs typeface="Vazirmatn" charset="0"/>
                      </a:endParaRPr>
                    </a:p>
                  </a:txBody>
                  <a:tcPr marL="101600" marR="101600" marT="50800" marB="5080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2F4F7"/>
                    </a:solidFill>
                  </a:tcPr>
                </a:tc>
                <a:tc>
                  <a:txBody>
                    <a:bodyPr/>
                    <a:lstStyle/>
                    <a:p>
                      <a:pPr rtl="1" algn="r" indent="0" marL="0">
                        <a:buNone/>
                      </a:pPr>
                      <a:r>
                        <a:rPr lang="en-US" sz="1500" dirty="0">
                          <a:solidFill>
                            <a:srgbClr val="333333"/>
                          </a:solidFill>
                          <a:latin typeface="Vazirmatn" pitchFamily="34" charset="0"/>
                          <a:ea typeface="Vazirmatn" pitchFamily="34" charset="-122"/>
                          <a:cs typeface="Vazirmatn" pitchFamily="34" charset="-120"/>
                        </a:rPr>
                        <a:t>بقیهٔ کلمات</a:t>
                      </a:r>
                      <a:endParaRPr lang="en-US" sz="1500" dirty="0">
                        <a:latin typeface="Vazirmatn" charset="0"/>
                        <a:ea typeface="Vazirmatn" charset="0"/>
                        <a:cs typeface="Vazirmatn" charset="0"/>
                      </a:endParaRPr>
                    </a:p>
                  </a:txBody>
                  <a:tcPr marL="101600" marR="101600" marT="50800" marB="5080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2F4F7"/>
                    </a:solidFill>
                  </a:tcPr>
                </a:tc>
              </a:tr>
            </a:tbl>
          </a:graphicData>
        </a:graphic>
      </p:graphicFrame>
      <p:sp>
        <p:nvSpPr>
          <p:cNvPr id="5" name="Text 2"/>
          <p:cNvSpPr/>
          <p:nvPr/>
        </p:nvSpPr>
        <p:spPr>
          <a:xfrm>
            <a:off x="548640" y="1371600"/>
            <a:ext cx="6675120" cy="4526280"/>
          </a:xfrm>
          <a:prstGeom prst="rect">
            <a:avLst/>
          </a:prstGeom>
          <a:noFill/>
          <a:ln/>
        </p:spPr>
        <p:txBody>
          <a:bodyPr wrap="square" rtlCol="0" anchor="t"/>
          <a:lstStyle/>
          <a:p>
            <a:pPr rtl="1" algn="r" marL="127000" indent="-127000">
              <a:lnSpc>
                <a:spcPts val="2600"/>
              </a:lnSpc>
              <a:spcAft>
                <a:spcPts val="1400"/>
              </a:spcAft>
              <a:buSzPct val="100000"/>
              <a:buChar char="•"/>
            </a:pPr>
            <a:r>
              <a:rPr lang="en-US" sz="1550" dirty="0">
                <a:solidFill>
                  <a:srgbClr val="333333"/>
                </a:solidFill>
                <a:latin typeface="Vazirmatn" pitchFamily="34" charset="0"/>
                <a:ea typeface="Vazirmatn" pitchFamily="34" charset="-122"/>
                <a:cs typeface="Vazirmatn" pitchFamily="34" charset="-120"/>
              </a:rPr>
              <a:t>جمع سهم‌ها همیشه ۱۰۰٪ است؛ مثل توزیع دقت.</a:t>
            </a:r>
            <a:pPr rtl="1" algn="r" marL="127000" indent="-127000">
              <a:lnSpc>
                <a:spcPts val="2600"/>
              </a:lnSpc>
              <a:spcAft>
                <a:spcPts val="1400"/>
              </a:spcAft>
              <a:buSzPct val="100000"/>
              <a:buChar char="•"/>
            </a:pPr>
            <a:r>
              <a:rPr lang="en-US" sz="1550" dirty="0">
                <a:solidFill>
                  <a:srgbClr val="333333"/>
                </a:solidFill>
                <a:latin typeface="Vazirmatn" pitchFamily="34" charset="0"/>
                <a:ea typeface="Vazirmatn" pitchFamily="34" charset="-122"/>
                <a:cs typeface="Vazirmatn" pitchFamily="34" charset="-120"/>
              </a:rPr>
              <a:t>معنای جدید «او» = ترکیب وزن‌دار از معنای این کلمات.</a:t>
            </a:r>
            <a:pPr rtl="1" algn="r" marL="127000" indent="-127000">
              <a:lnSpc>
                <a:spcPts val="2600"/>
              </a:lnSpc>
              <a:spcAft>
                <a:spcPts val="1400"/>
              </a:spcAft>
              <a:buSzPct val="100000"/>
              <a:buChar char="•"/>
            </a:pPr>
            <a:r>
              <a:rPr lang="en-US" sz="1550" dirty="0">
                <a:solidFill>
                  <a:srgbClr val="333333"/>
                </a:solidFill>
                <a:latin typeface="Vazirmatn" pitchFamily="34" charset="0"/>
                <a:ea typeface="Vazirmatn" pitchFamily="34" charset="-122"/>
                <a:cs typeface="Vazirmatn" pitchFamily="34" charset="-120"/>
              </a:rPr>
              <a:t>در عمل: «او» به «علی» وصل می‌شود؛ همین‌جاست که مدل مرجع ضمیر را پیدا می‌کند.</a:t>
            </a:r>
            <a:pPr rtl="1" algn="r" marL="127000" indent="-127000">
              <a:lnSpc>
                <a:spcPts val="2600"/>
              </a:lnSpc>
              <a:spcAft>
                <a:spcPts val="1400"/>
              </a:spcAft>
              <a:buSzPct val="100000"/>
              <a:buChar char="•"/>
            </a:pPr>
            <a:r>
              <a:rPr lang="en-US" sz="1550" dirty="0">
                <a:solidFill>
                  <a:srgbClr val="333333"/>
                </a:solidFill>
                <a:latin typeface="Vazirmatn" pitchFamily="34" charset="0"/>
                <a:ea typeface="Vazirmatn" pitchFamily="34" charset="-122"/>
                <a:cs typeface="Vazirmatn" pitchFamily="34" charset="-120"/>
              </a:rPr>
              <a:t>این کار برای هر کلمهٔ جمله انجام می‌شود، نه فقط «او».</a:t>
            </a:r>
            <a:endParaRPr lang="en-US" sz="1550" dirty="0"/>
          </a:p>
        </p:txBody>
      </p:sp>
      <p:sp>
        <p:nvSpPr>
          <p:cNvPr id="7" name="Text 3"/>
          <p:cNvSpPr/>
          <p:nvPr/>
        </p:nvSpPr>
        <p:spPr>
          <a:xfrm>
            <a:off x="5486400" y="6455664"/>
            <a:ext cx="6309360" cy="329184"/>
          </a:xfrm>
          <a:prstGeom prst="rect">
            <a:avLst/>
          </a:prstGeom>
          <a:noFill/>
          <a:ln/>
        </p:spPr>
        <p:txBody>
          <a:bodyPr wrap="square" rtlCol="0" anchor="ctr"/>
          <a:lstStyle/>
          <a:p>
            <a:pPr rtl="1" algn="r" indent="0" marL="0">
              <a:buNone/>
            </a:pPr>
            <a:r>
              <a:rPr lang="en-US" sz="1000" dirty="0">
                <a:solidFill>
                  <a:srgbClr val="6B7280"/>
                </a:solidFill>
                <a:latin typeface="Vazirmatn" pitchFamily="34" charset="0"/>
                <a:ea typeface="Vazirmatn" pitchFamily="34" charset="-122"/>
                <a:cs typeface="Vazirmatn" pitchFamily="34" charset="-120"/>
              </a:rPr>
              <a:t>کارگاه ۱ • جلسهٔ ۶: Transformer</a:t>
            </a:r>
            <a:endParaRPr lang="en-US" sz="1000" dirty="0"/>
          </a:p>
        </p:txBody>
      </p:sp>
      <p:sp>
        <p:nvSpPr>
          <p:cNvPr id="8" name="Text 4"/>
          <p:cNvSpPr/>
          <p:nvPr/>
        </p:nvSpPr>
        <p:spPr>
          <a:xfrm>
            <a:off x="320040" y="6455664"/>
            <a:ext cx="2011680" cy="329184"/>
          </a:xfrm>
          <a:prstGeom prst="rect">
            <a:avLst/>
          </a:prstGeom>
          <a:noFill/>
          <a:ln/>
        </p:spPr>
        <p:txBody>
          <a:bodyPr wrap="square" rtlCol="0" anchor="ctr"/>
          <a:lstStyle/>
          <a:p>
            <a:pPr rtl="1" algn="l" indent="0" marL="0">
              <a:buNone/>
            </a:pPr>
            <a:r>
              <a:rPr lang="en-US" sz="1000" dirty="0">
                <a:solidFill>
                  <a:srgbClr val="6B7280"/>
                </a:solidFill>
                <a:latin typeface="Vazirmatn" pitchFamily="34" charset="0"/>
                <a:ea typeface="Vazirmatn" pitchFamily="34" charset="-122"/>
                <a:cs typeface="Vazirmatn" pitchFamily="34" charset="-120"/>
              </a:rPr>
              <a:t>۷ از ۹</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274552" y="384048"/>
            <a:ext cx="73152" cy="566928"/>
          </a:xfrm>
          <a:prstGeom prst="rect">
            <a:avLst/>
          </a:prstGeom>
          <a:solidFill>
            <a:srgbClr val="0E7C7B"/>
          </a:solidFill>
          <a:ln/>
        </p:spPr>
      </p:sp>
      <p:sp>
        <p:nvSpPr>
          <p:cNvPr id="3" name="Text 1"/>
          <p:cNvSpPr/>
          <p:nvPr/>
        </p:nvSpPr>
        <p:spPr>
          <a:xfrm>
            <a:off x="548640" y="292608"/>
            <a:ext cx="10561320" cy="713232"/>
          </a:xfrm>
          <a:prstGeom prst="rect">
            <a:avLst/>
          </a:prstGeom>
          <a:noFill/>
          <a:ln/>
        </p:spPr>
        <p:txBody>
          <a:bodyPr wrap="square" rtlCol="0" anchor="ctr"/>
          <a:lstStyle/>
          <a:p>
            <a:pPr rtl="1" algn="r" indent="0" marL="0">
              <a:buNone/>
            </a:pPr>
            <a:r>
              <a:rPr lang="en-US" sz="2600" b="1" dirty="0">
                <a:solidFill>
                  <a:srgbClr val="1F3A5F"/>
                </a:solidFill>
                <a:latin typeface="Vazirmatn" pitchFamily="34" charset="0"/>
                <a:ea typeface="Vazirmatn" pitchFamily="34" charset="-122"/>
                <a:cs typeface="Vazirmatn" pitchFamily="34" charset="-120"/>
              </a:rPr>
              <a:t>مراحل ۳ تا ۵ و یک قیاس</a:t>
            </a:r>
            <a:endParaRPr lang="en-US" sz="2600" dirty="0"/>
          </a:p>
        </p:txBody>
      </p:sp>
      <p:sp>
        <p:nvSpPr>
          <p:cNvPr id="4" name="Text 2"/>
          <p:cNvSpPr/>
          <p:nvPr/>
        </p:nvSpPr>
        <p:spPr>
          <a:xfrm>
            <a:off x="548640" y="1234440"/>
            <a:ext cx="11064240" cy="4663440"/>
          </a:xfrm>
          <a:prstGeom prst="rect">
            <a:avLst/>
          </a:prstGeom>
          <a:noFill/>
          <a:ln/>
        </p:spPr>
        <p:txBody>
          <a:bodyPr wrap="square" rtlCol="0" anchor="t"/>
          <a:lstStyle/>
          <a:p>
            <a:pPr rtl="1" algn="r" marL="127000" indent="-127000">
              <a:lnSpc>
                <a:spcPts val="2600"/>
              </a:lnSpc>
              <a:spcAft>
                <a:spcPts val="1400"/>
              </a:spcAft>
              <a:buSzPct val="100000"/>
              <a:buChar char="•"/>
            </a:pPr>
            <a:r>
              <a:rPr lang="en-US" sz="1600" dirty="0">
                <a:solidFill>
                  <a:srgbClr val="333333"/>
                </a:solidFill>
                <a:latin typeface="Vazirmatn" pitchFamily="34" charset="0"/>
                <a:ea typeface="Vazirmatn" pitchFamily="34" charset="-122"/>
                <a:cs typeface="Vazirmatn" pitchFamily="34" charset="-120"/>
              </a:rPr>
              <a:t>مرحلهٔ ۳ - Feed-Forward: الگوهای ذخیره‌شده در پارامترها روی نتیجهٔ توجه اعمال می‌شود.</a:t>
            </a:r>
            <a:pPr rtl="1" algn="r" marL="127000" indent="-127000">
              <a:lnSpc>
                <a:spcPts val="2600"/>
              </a:lnSpc>
              <a:spcAft>
                <a:spcPts val="1400"/>
              </a:spcAft>
              <a:buSzPct val="100000"/>
              <a:buChar char="•"/>
            </a:pPr>
            <a:r>
              <a:rPr lang="en-US" sz="1600" dirty="0">
                <a:solidFill>
                  <a:srgbClr val="333333"/>
                </a:solidFill>
                <a:latin typeface="Vazirmatn" pitchFamily="34" charset="0"/>
                <a:ea typeface="Vazirmatn" pitchFamily="34" charset="-122"/>
                <a:cs typeface="Vazirmatn" pitchFamily="34" charset="-120"/>
              </a:rPr>
              <a:t>مرحلهٔ ۴ - تکرار: این دو عمل، در چندین لایه پشت سر هم؛ هر دور معنا غنی‌تر می‌شود.</a:t>
            </a:r>
            <a:pPr rtl="1" algn="r" marL="127000" indent="-127000">
              <a:lnSpc>
                <a:spcPts val="2600"/>
              </a:lnSpc>
              <a:spcAft>
                <a:spcPts val="1400"/>
              </a:spcAft>
              <a:buSzPct val="100000"/>
              <a:buChar char="•"/>
            </a:pPr>
            <a:r>
              <a:rPr lang="en-US" sz="1600" dirty="0">
                <a:solidFill>
                  <a:srgbClr val="333333"/>
                </a:solidFill>
                <a:latin typeface="Vazirmatn" pitchFamily="34" charset="0"/>
                <a:ea typeface="Vazirmatn" pitchFamily="34" charset="-122"/>
                <a:cs typeface="Vazirmatn" pitchFamily="34" charset="-120"/>
              </a:rPr>
              <a:t>مرحلهٔ ۵ - پیش‌بینی: در پایان، احتمالِ کلمهٔ بعد خروجی داده می‌شود.</a:t>
            </a:r>
            <a:pPr rtl="1" algn="r" marL="127000" indent="-127000">
              <a:lnSpc>
                <a:spcPts val="2600"/>
              </a:lnSpc>
              <a:spcAft>
                <a:spcPts val="1400"/>
              </a:spcAft>
              <a:buSzPct val="100000"/>
              <a:buChar char="•"/>
            </a:pPr>
            <a:r>
              <a:rPr lang="en-US" sz="1600" dirty="0">
                <a:solidFill>
                  <a:srgbClr val="333333"/>
                </a:solidFill>
                <a:latin typeface="Vazirmatn" pitchFamily="34" charset="0"/>
                <a:ea typeface="Vazirmatn" pitchFamily="34" charset="-122"/>
                <a:cs typeface="Vazirmatn" pitchFamily="34" charset="-120"/>
              </a:rPr>
              <a:t>قیاس میزگرد: هر نفر (کلمه) می‌پرسد «برای فهم نقشم به حرف چه کسانی گوش بدهم؟» و به همان‌ها بیشتر گوش می‌دهد؛ این گفت‌وگو چند دور تکرار می‌شود.</a:t>
            </a:r>
            <a:endParaRPr lang="en-US" sz="1600" dirty="0"/>
          </a:p>
        </p:txBody>
      </p:sp>
      <p:sp>
        <p:nvSpPr>
          <p:cNvPr id="6" name="Text 3"/>
          <p:cNvSpPr/>
          <p:nvPr/>
        </p:nvSpPr>
        <p:spPr>
          <a:xfrm>
            <a:off x="5486400" y="6455664"/>
            <a:ext cx="6309360" cy="329184"/>
          </a:xfrm>
          <a:prstGeom prst="rect">
            <a:avLst/>
          </a:prstGeom>
          <a:noFill/>
          <a:ln/>
        </p:spPr>
        <p:txBody>
          <a:bodyPr wrap="square" rtlCol="0" anchor="ctr"/>
          <a:lstStyle/>
          <a:p>
            <a:pPr rtl="1" algn="r" indent="0" marL="0">
              <a:buNone/>
            </a:pPr>
            <a:r>
              <a:rPr lang="en-US" sz="1000" dirty="0">
                <a:solidFill>
                  <a:srgbClr val="6B7280"/>
                </a:solidFill>
                <a:latin typeface="Vazirmatn" pitchFamily="34" charset="0"/>
                <a:ea typeface="Vazirmatn" pitchFamily="34" charset="-122"/>
                <a:cs typeface="Vazirmatn" pitchFamily="34" charset="-120"/>
              </a:rPr>
              <a:t>کارگاه ۱ • جلسهٔ ۶: Transformer</a:t>
            </a:r>
            <a:endParaRPr lang="en-US" sz="1000" dirty="0"/>
          </a:p>
        </p:txBody>
      </p:sp>
      <p:sp>
        <p:nvSpPr>
          <p:cNvPr id="7" name="Text 4"/>
          <p:cNvSpPr/>
          <p:nvPr/>
        </p:nvSpPr>
        <p:spPr>
          <a:xfrm>
            <a:off x="320040" y="6455664"/>
            <a:ext cx="2011680" cy="329184"/>
          </a:xfrm>
          <a:prstGeom prst="rect">
            <a:avLst/>
          </a:prstGeom>
          <a:noFill/>
          <a:ln/>
        </p:spPr>
        <p:txBody>
          <a:bodyPr wrap="square" rtlCol="0" anchor="ctr"/>
          <a:lstStyle/>
          <a:p>
            <a:pPr rtl="1" algn="l" indent="0" marL="0">
              <a:buNone/>
            </a:pPr>
            <a:r>
              <a:rPr lang="en-US" sz="1000" dirty="0">
                <a:solidFill>
                  <a:srgbClr val="6B7280"/>
                </a:solidFill>
                <a:latin typeface="Vazirmatn" pitchFamily="34" charset="0"/>
                <a:ea typeface="Vazirmatn" pitchFamily="34" charset="-122"/>
                <a:cs typeface="Vazirmatn" pitchFamily="34" charset="-120"/>
              </a:rPr>
              <a:t>۸ از ۹</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274552" y="384048"/>
            <a:ext cx="73152" cy="566928"/>
          </a:xfrm>
          <a:prstGeom prst="rect">
            <a:avLst/>
          </a:prstGeom>
          <a:solidFill>
            <a:srgbClr val="0E7C7B"/>
          </a:solidFill>
          <a:ln/>
        </p:spPr>
      </p:sp>
      <p:sp>
        <p:nvSpPr>
          <p:cNvPr id="3" name="Text 1"/>
          <p:cNvSpPr/>
          <p:nvPr/>
        </p:nvSpPr>
        <p:spPr>
          <a:xfrm>
            <a:off x="548640" y="292608"/>
            <a:ext cx="10561320" cy="713232"/>
          </a:xfrm>
          <a:prstGeom prst="rect">
            <a:avLst/>
          </a:prstGeom>
          <a:noFill/>
          <a:ln/>
        </p:spPr>
        <p:txBody>
          <a:bodyPr wrap="square" rtlCol="0" anchor="ctr"/>
          <a:lstStyle/>
          <a:p>
            <a:pPr rtl="1" algn="r" indent="0" marL="0">
              <a:buNone/>
            </a:pPr>
            <a:r>
              <a:rPr lang="en-US" sz="2600" b="1" dirty="0">
                <a:solidFill>
                  <a:srgbClr val="1F3A5F"/>
                </a:solidFill>
                <a:latin typeface="Vazirmatn" pitchFamily="34" charset="0"/>
                <a:ea typeface="Vazirmatn" pitchFamily="34" charset="-122"/>
                <a:cs typeface="Vazirmatn" pitchFamily="34" charset="-120"/>
              </a:rPr>
              <a:t>خلاصهٔ جلسهٔ ۶</a:t>
            </a:r>
            <a:endParaRPr lang="en-US" sz="2600" dirty="0"/>
          </a:p>
        </p:txBody>
      </p:sp>
      <p:sp>
        <p:nvSpPr>
          <p:cNvPr id="4" name="Text 2"/>
          <p:cNvSpPr/>
          <p:nvPr/>
        </p:nvSpPr>
        <p:spPr>
          <a:xfrm>
            <a:off x="548640" y="1234440"/>
            <a:ext cx="11064240" cy="4663440"/>
          </a:xfrm>
          <a:prstGeom prst="rect">
            <a:avLst/>
          </a:prstGeom>
          <a:noFill/>
          <a:ln/>
        </p:spPr>
        <p:txBody>
          <a:bodyPr wrap="square" rtlCol="0" anchor="t"/>
          <a:lstStyle/>
          <a:p>
            <a:pPr rtl="1" algn="r" marL="127000" indent="-127000">
              <a:lnSpc>
                <a:spcPts val="2600"/>
              </a:lnSpc>
              <a:spcAft>
                <a:spcPts val="1000"/>
              </a:spcAft>
              <a:buSzPct val="100000"/>
              <a:buChar char="•"/>
            </a:pPr>
            <a:r>
              <a:rPr lang="en-US" sz="1700" dirty="0">
                <a:solidFill>
                  <a:srgbClr val="333333"/>
                </a:solidFill>
                <a:latin typeface="Vazirmatn" pitchFamily="34" charset="0"/>
                <a:ea typeface="Vazirmatn" pitchFamily="34" charset="-122"/>
                <a:cs typeface="Vazirmatn" pitchFamily="34" charset="-120"/>
              </a:rPr>
              <a:t>Transformer همهٔ کلمات را هم‌زمان می‌بیند و هر کلمه را در رابطه با بقیه می‌فهمد.</a:t>
            </a:r>
            <a:pPr rtl="1" algn="r" marL="127000" indent="-127000">
              <a:lnSpc>
                <a:spcPts val="2600"/>
              </a:lnSpc>
              <a:spcAft>
                <a:spcPts val="1000"/>
              </a:spcAft>
              <a:buSzPct val="100000"/>
              <a:buChar char="•"/>
            </a:pPr>
            <a:r>
              <a:rPr lang="en-US" sz="1700" dirty="0">
                <a:solidFill>
                  <a:srgbClr val="333333"/>
                </a:solidFill>
                <a:latin typeface="Vazirmatn" pitchFamily="34" charset="0"/>
                <a:ea typeface="Vazirmatn" pitchFamily="34" charset="-122"/>
                <a:cs typeface="Vazirmatn" pitchFamily="34" charset="-120"/>
              </a:rPr>
              <a:t>Attention: هر کلمه به کلمات مرتبط‌تر توجهٔ بیشتری می‌کند؛ معنا بر اساس زمینه اصلاح می‌شود.</a:t>
            </a:r>
            <a:pPr rtl="1" algn="r" marL="127000" indent="-127000">
              <a:lnSpc>
                <a:spcPts val="2600"/>
              </a:lnSpc>
              <a:spcAft>
                <a:spcPts val="1000"/>
              </a:spcAft>
              <a:buSzPct val="100000"/>
              <a:buChar char="•"/>
            </a:pPr>
            <a:r>
              <a:rPr lang="en-US" sz="1700" dirty="0">
                <a:solidFill>
                  <a:srgbClr val="333333"/>
                </a:solidFill>
                <a:latin typeface="Vazirmatn" pitchFamily="34" charset="0"/>
                <a:ea typeface="Vazirmatn" pitchFamily="34" charset="-122"/>
                <a:cs typeface="Vazirmatn" pitchFamily="34" charset="-120"/>
              </a:rPr>
              <a:t>رفتار مدل «ظهوری» است: از تنظیم میلیاردها پارامتر پدید می‌آید؛ قدرتمند ولی شفاف نیست.</a:t>
            </a:r>
            <a:pPr rtl="1" algn="r" marL="127000" indent="-127000">
              <a:lnSpc>
                <a:spcPts val="2600"/>
              </a:lnSpc>
              <a:spcAft>
                <a:spcPts val="1000"/>
              </a:spcAft>
              <a:buSzPct val="100000"/>
              <a:buChar char="•"/>
            </a:pPr>
            <a:r>
              <a:rPr lang="en-US" sz="1700" dirty="0">
                <a:solidFill>
                  <a:srgbClr val="333333"/>
                </a:solidFill>
                <a:latin typeface="Vazirmatn" pitchFamily="34" charset="0"/>
                <a:ea typeface="Vazirmatn" pitchFamily="34" charset="-122"/>
                <a:cs typeface="Vazirmatn" pitchFamily="34" charset="-120"/>
              </a:rPr>
              <a:t>جلسهٔ بعد: این مدل چطور آموزش داده می‌شود؟ یادگیری خودنظارتی.</a:t>
            </a:r>
            <a:endParaRPr lang="en-US" sz="1700" dirty="0"/>
          </a:p>
        </p:txBody>
      </p:sp>
      <p:sp>
        <p:nvSpPr>
          <p:cNvPr id="6" name="Text 3"/>
          <p:cNvSpPr/>
          <p:nvPr/>
        </p:nvSpPr>
        <p:spPr>
          <a:xfrm>
            <a:off x="5486400" y="6455664"/>
            <a:ext cx="6309360" cy="329184"/>
          </a:xfrm>
          <a:prstGeom prst="rect">
            <a:avLst/>
          </a:prstGeom>
          <a:noFill/>
          <a:ln/>
        </p:spPr>
        <p:txBody>
          <a:bodyPr wrap="square" rtlCol="0" anchor="ctr"/>
          <a:lstStyle/>
          <a:p>
            <a:pPr rtl="1" algn="r" indent="0" marL="0">
              <a:buNone/>
            </a:pPr>
            <a:r>
              <a:rPr lang="en-US" sz="1000" dirty="0">
                <a:solidFill>
                  <a:srgbClr val="6B7280"/>
                </a:solidFill>
                <a:latin typeface="Vazirmatn" pitchFamily="34" charset="0"/>
                <a:ea typeface="Vazirmatn" pitchFamily="34" charset="-122"/>
                <a:cs typeface="Vazirmatn" pitchFamily="34" charset="-120"/>
              </a:rPr>
              <a:t>کارگاه ۱ • جلسهٔ ۶: Transformer</a:t>
            </a:r>
            <a:endParaRPr lang="en-US" sz="1000" dirty="0"/>
          </a:p>
        </p:txBody>
      </p:sp>
      <p:sp>
        <p:nvSpPr>
          <p:cNvPr id="7" name="Text 4"/>
          <p:cNvSpPr/>
          <p:nvPr/>
        </p:nvSpPr>
        <p:spPr>
          <a:xfrm>
            <a:off x="320040" y="6455664"/>
            <a:ext cx="2011680" cy="329184"/>
          </a:xfrm>
          <a:prstGeom prst="rect">
            <a:avLst/>
          </a:prstGeom>
          <a:noFill/>
          <a:ln/>
        </p:spPr>
        <p:txBody>
          <a:bodyPr wrap="square" rtlCol="0" anchor="ctr"/>
          <a:lstStyle/>
          <a:p>
            <a:pPr rtl="1" algn="l" indent="0" marL="0">
              <a:buNone/>
            </a:pPr>
            <a:r>
              <a:rPr lang="en-US" sz="1000" dirty="0">
                <a:solidFill>
                  <a:srgbClr val="6B7280"/>
                </a:solidFill>
                <a:latin typeface="Vazirmatn" pitchFamily="34" charset="0"/>
                <a:ea typeface="Vazirmatn" pitchFamily="34" charset="-122"/>
                <a:cs typeface="Vazirmatn" pitchFamily="34" charset="-120"/>
              </a:rPr>
              <a:t>۹ از ۹</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2026-10-03T15:16:08Z</dcterms:created>
  <dcterms:modified xsi:type="dcterms:W3CDTF">2026-10-03T15:16:08Z</dcterms:modified>
</cp:coreProperties>
</file>