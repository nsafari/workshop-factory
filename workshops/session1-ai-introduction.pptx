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خوش‌آمدگویی و معرفی کارگاه.
مثال کارشده: سارا هر روز ۳۰ دقیقه ایمیل‌ها را می‌خواند و خلاصه می‌کند. یک روز یک ربات این کار را در ۲ دقیقه انجام داد. سارا نگران شد: یعنی من بی‌کار شدم؟ نه! حالا ۲۸ دقیقه بیشتر برای فکرکردن دارد.
هدف: نه جایگزینی انسان، بلکه آزادکردن زمان انسان.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خلاصهٔ مسیر جلسه. اشاره کنید که امروز فقط مفاهیم پایه را می‌بینیم و در جلسات بعد عمیق‌تر می‌شویم.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این اهداف را سریع مرور کنید. نیازی به توضیح نیست؛ فقط بگویید «در پایان کارگاه می‌توانید...». هدف ایجاد انگیزه و نقشهٔ ذهنی است.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مثال کارشده: آزمایش سریع.
از ChatGPT بخواهید «ایمیل‌های امروزم را بخوان و خلاصه کن.» — نمی‌تواند.
چرا؟ سه رکن ندارد:
• دانش ندارد: نمی‌داند ایمیل‌های شما کجاست
• مهارت ندارد: نمی‌داند خلاصه را کجا بفرستد
• ابزار ندارد: نمی‌تواند به ایمیل‌های شما دسترسی پیدا کند
سپس بپرسید: «اگر هر سه رکن فراهم شود، چه اتفاقی می‌افتد؟» — بله، دستیار هوشمند!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مثال کارشده: صبح کاری با دستیار هوشمند.
ساعت ۸ صبح، دستیار هوشمند شما:
• ایمیل‌های دیشب را خوانده (ابزار)
• دو طرح جدید را با اهداف سازمان تطبیق داده (دانش)
• چون مهلت ثبت‌نام فردا تمام می‌شود، هشدار داده (مهارت)
از شرکت‌کنندگان بپرسید: «کدام بخش این صبح را یک جست‌وجوی ساده می‌توانست انجام دهد؟» — پاسخ: هیچ‌کدام؛ چون هر سه رکن با هم کار می‌کنند.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مثال کارشده: تصور کنید.
مدیر طرح‌ها: «تصور کنید صبح بیدار شدید و گوشی‌تان یک خلاصهٔ ۵ خطی از ۲۰ طرح دیشب دارد.»
دانشجوی پژوهشگر: «تصور کنید از مدل بپرسید: مقالات اخیر دربارهٔ X چه می‌گویند؟ و ۳ مقالهٔ کلیدی با خلاصه بگیرید.»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مثال کارشده: تصور کنید.
برنامه‌نویس: «تصور کنید کدتان را به مدل بدهید و بگویید: این باگ کجاست؟ و فوراً جواب بگیرید.»
دستیار قضایی: «تصور کنید مدل هر صبح به شما بگوید: امروز ۳ مهلت مهم دارید!»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مثال کارشده: مقایسهٔ سیستم ساده و هوش مصنوعی.
سیستم ساده: ماشین حساب — ۲+۲=۴ (قانون ثابت، انسان نوشته)
هوش مصنوعی: مدلی که عکس سگ و گربه را تشخیص می‌دهد (الگو یاد گرفته، خودش از داده)
نکته: هوش مصنوعی یعنی ماشین بتواند یاد بگیرد، نه فقط قانون را اجرا کند.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مثال کارشده: تشخیص چهره در عکس.
• AI (هوش مصنوعی): هر سیستمی که بتواند چهره تشخیص دهد
• ML (یادگیری ماشین): سیستمی که از هزاران عکس یاد گرفته
• DL (یادگیری عمیق): سیستمی با شبکه‌های عصبی عمیق
به‌زبان ساده: DL ⊂ ML ⊂ AI — مثل عروسک‌های توی هم.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این جدول را سریع مرور کنید. نیازی به حفظ‌کردن تاریخ‌ها نیست؛ هدف نشان‌دادن روند تحول است.
نکته: هر نسل از نسل قبل بهتر شده، ولی هنوز کامل نیست.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مثال کارشده: سؤال بسته‌شونده.
از شرکت‌کنندگان بپرسید: «اگر یک دستیار هوشمند داشتید که فقط یکی از سه رکن (دانش، مهارت، ابزار) را داشت، کدام را انتخاب می‌کردید و چرا؟»
این سؤال باعث می‌شود هر سه رکن در ذهنشان تثبیت شود.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17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DE3EA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۱ از ۸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هوش مصنوعی چیست؟ این کارگاه برای کیست؟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22960" y="333756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DDE3EA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۲۰ دقیقه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آشنایی با مفاهیم هوش مصنوعی • کارگاه 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دستور جلسه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چرا با چت کردن ساده کافی نیست؟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سه رکن دستیار هوشمند: دانش، مهارت، ابزار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چهار مثال ملموس از محیط کار شما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هوش مصنوعی چیست و اعضای خانوادهٔ آن کدام‌اند؟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سیر پنج‌دههٔ تحول هوش مصنوعی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۱: هوش مصنوعی چیست؟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۲ از ۱۱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در پایان این کارگاه چه می‌دانید؟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969264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اهداف یادگیری کارگاه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172200" y="1645920"/>
            <a:ext cx="5486400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127000" indent="-127000">
              <a:lnSpc>
                <a:spcPts val="2600"/>
              </a:lnSpc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سه تفاوت کلیدی AI، ML و LLM</a:t>
            </a:r>
            <a:pPr rtl="1" algn="r" marL="127000" indent="-127000">
              <a:lnSpc>
                <a:spcPts val="2600"/>
              </a:lnSpc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مقایسهٔ تعداد پارامتر مدل‌های واقعی</a:t>
            </a:r>
            <a:pPr rtl="1" algn="r" marL="127000" indent="-127000">
              <a:lnSpc>
                <a:spcPts val="2600"/>
              </a:lnSpc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توصیف دستیار هوشمند برای شغل خودتان با سه رکن</a:t>
            </a:r>
            <a:pPr rtl="1" algn="r" marL="127000" indent="-127000">
              <a:lnSpc>
                <a:spcPts val="2600"/>
              </a:lnSpc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نقش لایه‌های شبکهٔ عصبی (ورودی، پنهان، خروجی)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1645920"/>
            <a:ext cx="5486400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127000" indent="-127000">
              <a:lnSpc>
                <a:spcPts val="2600"/>
              </a:lnSpc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شرح Attention با یک مثال ساده</a:t>
            </a:r>
            <a:pPr rtl="1" algn="r" marL="127000" indent="-127000">
              <a:lnSpc>
                <a:spcPts val="2600"/>
              </a:lnSpc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تفاوت یادگیری خودنظارتی با نظارت‌شده</a:t>
            </a:r>
            <a:pPr rtl="1" algn="r" marL="127000" indent="-127000">
              <a:lnSpc>
                <a:spcPts val="2600"/>
              </a:lnSpc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مراحل پیش‌بینی کلمهٔ بعدی</a:t>
            </a:r>
            <a:pPr rtl="1" algn="r" marL="127000" indent="-127000">
              <a:lnSpc>
                <a:spcPts val="2600"/>
              </a:lnSpc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اجرا و تفسیر یک مدل رگرسیون خطی واقعی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۱: هوش مصنوعی چیست؟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۳ از ۱۱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چرا با چت کردن ساده کافی نیست؟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امروز بیشتر ما از هوش مصنوعی فقط سؤال می‌پرسیم و جواب می‌گیریم؛ تمام.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در این حالت هوش مصنوعی فقط یک «موتور جستجوی هوشمند» است، نه یک دستیار.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پتانسیل واقعی وقتی آزاد می‌شود که مدل در جریان کارِ واقعی شما وارد شود: بخواند، بفهمد و عمل کند.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این کارگاه برای همهٔ اعضای موسسه است؛ هیچ پیش‌نیاز فنی لازم ندارد.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۱: هوش مصنوعی چیست؟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۴ از ۱۱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دستیار هوشمند = سه رکن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969264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برای تبدیل چت‌بات به همکار واقعی، هر سه رکن لازم است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095488" y="1600200"/>
            <a:ext cx="3544824" cy="3291840"/>
          </a:xfrm>
          <a:prstGeom prst="roundRect">
            <a:avLst>
              <a:gd name="adj" fmla="val 2500"/>
            </a:avLst>
          </a:prstGeom>
          <a:solidFill>
            <a:srgbClr val="F2F4F7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48872" y="1828800"/>
            <a:ext cx="54864" cy="4572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Text 5"/>
          <p:cNvSpPr/>
          <p:nvPr/>
        </p:nvSpPr>
        <p:spPr>
          <a:xfrm>
            <a:off x="8324088" y="1801368"/>
            <a:ext cx="304190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دانش (Knowledge)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324088" y="2468880"/>
            <a:ext cx="3041904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مدل باید زمینهٔ کار را بشناسد: اهداف سازمان، ماموریت‌ها، فرمت طرح‌ها، طرفین پرونده، مهلت‌ها.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2064" y="1600200"/>
            <a:ext cx="3544824" cy="3291840"/>
          </a:xfrm>
          <a:prstGeom prst="roundRect">
            <a:avLst>
              <a:gd name="adj" fmla="val 2500"/>
            </a:avLst>
          </a:prstGeom>
          <a:solidFill>
            <a:srgbClr val="F2F4F7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5448" y="1828800"/>
            <a:ext cx="54864" cy="4572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1" name="Text 9"/>
          <p:cNvSpPr/>
          <p:nvPr/>
        </p:nvSpPr>
        <p:spPr>
          <a:xfrm>
            <a:off x="4550664" y="1801368"/>
            <a:ext cx="304190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مهارت (Workflow)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50664" y="2468880"/>
            <a:ext cx="3041904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باید بداند با اطلاعات چه کند: نزدیک شدن مهلت → هشدار خودکار؛ کم‌بودن مدرک → یادآوری.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1600200"/>
            <a:ext cx="3544824" cy="3291840"/>
          </a:xfrm>
          <a:prstGeom prst="roundRect">
            <a:avLst>
              <a:gd name="adj" fmla="val 2500"/>
            </a:avLst>
          </a:prstGeom>
          <a:solidFill>
            <a:srgbClr val="F2F4F7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2024" y="1828800"/>
            <a:ext cx="54864" cy="4572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1801368"/>
            <a:ext cx="304190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ابزار (Tools)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77240" y="2468880"/>
            <a:ext cx="3041904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بتواند عمل کند، نه فقط فکر کند: خواندن فایل، جست‌وجو در وب، ارتباط از پیام‌رسان.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در این دوره هر سه رکن را روی نمونه‌های واقعی خودمان می‌سازیم.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۱: هوش مصنوعی چیست؟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۵ از ۱۱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مثال‌های ملموس (۱)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969264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نتیجهٔ دوره روی دو نقش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08776" y="1600200"/>
            <a:ext cx="5431536" cy="4023360"/>
          </a:xfrm>
          <a:prstGeom prst="roundRect">
            <a:avLst>
              <a:gd name="adj" fmla="val 2045"/>
            </a:avLst>
          </a:prstGeom>
          <a:solidFill>
            <a:srgbClr val="F2F4F7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48872" y="1828800"/>
            <a:ext cx="54864" cy="4572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Text 5"/>
          <p:cNvSpPr/>
          <p:nvPr/>
        </p:nvSpPr>
        <p:spPr>
          <a:xfrm>
            <a:off x="6437376" y="1801368"/>
            <a:ext cx="492861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مدیر طرح‌ها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37376" y="2468880"/>
            <a:ext cx="4928616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چالش: بررسی طرح‌های پیشنهادی از کانال‌های مختلف</a:t>
            </a:r>
            <a:endParaRPr lang="en-US" sz="1250" dirty="0"/>
          </a:p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بدون دستیار: بررسی دستی ایمیل‌ها و فایل‌ها؛ فرسودگی و تأخیر</a:t>
            </a:r>
            <a:endParaRPr lang="en-US" sz="1250" dirty="0"/>
          </a:p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با دستیار: بررسی خودکار، بازخورد هوشمند، پیشنهاد بهبود</a:t>
            </a:r>
            <a:endParaRPr lang="en-US" sz="1250" dirty="0"/>
          </a:p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نتیجه: مشاور هوشمندی که طرح‌ها را پخته می‌کند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1600200"/>
            <a:ext cx="5431536" cy="4023360"/>
          </a:xfrm>
          <a:prstGeom prst="roundRect">
            <a:avLst>
              <a:gd name="adj" fmla="val 2045"/>
            </a:avLst>
          </a:prstGeom>
          <a:solidFill>
            <a:srgbClr val="F2F4F7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888736" y="1828800"/>
            <a:ext cx="54864" cy="4572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1801368"/>
            <a:ext cx="492861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دانشجوی پژوهشگر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77240" y="2468880"/>
            <a:ext cx="4928616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چالش: انجام کار پژوهشی</a:t>
            </a:r>
            <a:endParaRPr lang="en-US" sz="1250" dirty="0"/>
          </a:p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بدون دستیار: ساعت‌ها جست‌وجو و خواندن مقالات</a:t>
            </a:r>
            <a:endParaRPr lang="en-US" sz="1250" dirty="0"/>
          </a:p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با دستیار: جست‌وجوی هوشمند، خلاصه‌نویسی، تحلیل</a:t>
            </a:r>
            <a:endParaRPr lang="en-US" sz="1250" dirty="0"/>
          </a:p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نتیجه: مرور ادبیات، تحلیل شکاف‌ها، پیشنهاد روش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۱: هوش مصنوعی چیست؟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۶ از ۱۱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مثال‌های ملموس (۲)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208776" y="1554480"/>
            <a:ext cx="5431536" cy="4023360"/>
          </a:xfrm>
          <a:prstGeom prst="roundRect">
            <a:avLst>
              <a:gd name="adj" fmla="val 2045"/>
            </a:avLst>
          </a:prstGeom>
          <a:solidFill>
            <a:srgbClr val="F2F4F7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548872" y="1783080"/>
            <a:ext cx="54864" cy="4572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6" name="Text 4"/>
          <p:cNvSpPr/>
          <p:nvPr/>
        </p:nvSpPr>
        <p:spPr>
          <a:xfrm>
            <a:off x="6437376" y="1755648"/>
            <a:ext cx="492861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برنامه‌نویس شرکت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37376" y="2423160"/>
            <a:ext cx="4928616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چالش: توسعهٔ سریع‌تر نرم‌افزار</a:t>
            </a:r>
            <a:endParaRPr lang="en-US" sz="1250" dirty="0"/>
          </a:p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بدون دستیار: جست‌وجو در مستندات و نوشتن کد تکراری</a:t>
            </a:r>
            <a:endParaRPr lang="en-US" sz="1250" dirty="0"/>
          </a:p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با دستیار: نوشتن کد، تست و رفع باگ</a:t>
            </a:r>
            <a:endParaRPr lang="en-US" sz="1250" dirty="0"/>
          </a:p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نتیجه: توسعهٔ سریع‌تر با کیفیت بهتر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1554480"/>
            <a:ext cx="5431536" cy="4023360"/>
          </a:xfrm>
          <a:prstGeom prst="roundRect">
            <a:avLst>
              <a:gd name="adj" fmla="val 2045"/>
            </a:avLst>
          </a:prstGeom>
          <a:solidFill>
            <a:srgbClr val="F2F4F7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888736" y="1783080"/>
            <a:ext cx="54864" cy="4572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755648"/>
            <a:ext cx="492861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دستیار هوشمند قضایی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77240" y="2423160"/>
            <a:ext cx="4928616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چالش: پیگیری پرونده‌ها و مدیریت مهلت‌ها</a:t>
            </a:r>
            <a:endParaRPr lang="en-US" sz="1250" dirty="0"/>
          </a:p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بدون دستیار: فقط سؤال و جواب ساده؛ فراموش شدن مهلت‌ها</a:t>
            </a:r>
            <a:endParaRPr lang="en-US" sz="1250" dirty="0"/>
          </a:p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با دستیار: پیگیری خودکار، یادآوری مهلت‌ها، مدیریت مدارک</a:t>
            </a:r>
            <a:endParaRPr lang="en-US" sz="1250" dirty="0"/>
          </a:p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نتیجه: همکار هوشمند در امور حقوقی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۱: هوش مصنوعی چیست؟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۷ از ۱۱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هوش مصنوعی چیست؟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تعریف ساده: تلاش برای شبیه‌سازی توانایی‌های هوشمندانهٔ انسان (یادگیری، استدلال، درک زبان) با کامپیوتر.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کلمهٔ کلیدی «یادگیری» است: به‌جای نوشتن دستوریِ همهٔ قواعد، از دانهٔ داده الگو ساخته می‌شود (جلسهٔ ۲).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هوش مصنوعی فقط چت‌بات نیست؛ چت‌بات فقط یکی از چهره‌های آن است.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۱: هوش مصنوعی چیست؟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۸ از ۱۱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خانوادهٔ هوش مصنوعی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969264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هر حلقه، زیرمجموعهٔ حلقهٔ بزرگ‌تر است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554480"/>
            <a:ext cx="10881360" cy="914400"/>
          </a:xfrm>
          <a:prstGeom prst="rect">
            <a:avLst/>
          </a:prstGeom>
          <a:solidFill>
            <a:srgbClr val="D9E2E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719072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هوش مصنوعی (AI)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58368" y="2633472"/>
            <a:ext cx="8138160" cy="914400"/>
          </a:xfrm>
          <a:prstGeom prst="rect">
            <a:avLst/>
          </a:prstGeom>
          <a:solidFill>
            <a:srgbClr val="B8CCD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798064"/>
            <a:ext cx="7680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یادگیری ماشین (ML)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3712464"/>
            <a:ext cx="5394960" cy="914400"/>
          </a:xfrm>
          <a:prstGeom prst="rect">
            <a:avLst/>
          </a:prstGeom>
          <a:solidFill>
            <a:srgbClr val="8FAFD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877056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یادگیری عمیق (DL)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58368" y="4791456"/>
            <a:ext cx="2651760" cy="914400"/>
          </a:xfrm>
          <a:prstGeom prst="rect">
            <a:avLst/>
          </a:prstGeom>
          <a:solidFill>
            <a:srgbClr val="0E7C7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4956048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هوش مصنوعی مولد (GenAI)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594360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LLMها (مثل GPT) عضوی از GenAI هستند.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۱: هوش مصنوعی چیست؟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۹ از ۱۱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سیر پنج‌دههٔ تحول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7548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ویژگی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رویکرد غالب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دوره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قواعد دست‌نویس متخصصان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سیستم‌های خبره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۱۹۵۰ تا ۱۹۸۰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یادگیری الگو از داده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یادگیری ماشین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۱۹۹۰ تا ۲۰۰۰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شبکه‌های عصبی چندلایه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یادگیری عمیق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حدود ۲۰۱۰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تولید متن، تصویر و گفت‌وگو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هوش مصنوعی مولد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۲۰۲۲ به بعد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۱: هوش مصنوعی چیست؟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۱۰ از ۱۱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خلاصهٔ جلسهٔ ۱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هوش مصنوعی فقط چت‌بات نیست؛ با سه رکن «دانش، مهارت، ابزار» به دستیار هوشمند تبدیل می‌شود.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جای جایی خانواده: AI ⊃ ML ⊃ DL ⊃ GenAI و LLM یک GenAI است.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سؤال برای فردا: کدام کارِ تکراریِ شما می‌تواند اولین مشتری دستیار هوشمند باشد؟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جلسهٔ بعد: یادگیری ماشین چیست؟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۱: هوش مصنوعی چیست؟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۱۱ از ۱۱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2026-10-03T15:16:08Z</dcterms:created>
  <dcterms:modified xsi:type="dcterms:W3CDTF">2026-10-03T15:16:08Z</dcterms:modified>
</cp:coreProperties>
</file>